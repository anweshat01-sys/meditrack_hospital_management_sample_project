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58" r:id="rId5"/>
    <p:sldId id="266" r:id="rId6"/>
    <p:sldId id="259" r:id="rId7"/>
    <p:sldId id="264" r:id="rId8"/>
    <p:sldId id="260" r:id="rId9"/>
    <p:sldId id="261" r:id="rId10"/>
    <p:sldId id="262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1F2428"/>
                </a:solidFill>
                <a:latin typeface="Georgia"/>
              </a:rPr>
              <a:t>MediTrack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3440" y="316667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>
                <a:solidFill>
                  <a:srgbClr val="0F766E"/>
                </a:solidFill>
                <a:latin typeface="Calibri"/>
              </a:rPr>
              <a:t>Hospital Patient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8127" y="4023360"/>
            <a:ext cx="10515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5F666B"/>
                </a:solidFill>
                <a:latin typeface="Calibri"/>
              </a:rPr>
              <a:t>A MySQL database project: tables, ER diagram and queries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6C3A51-A3F1-3FD6-DC6A-8673CF5FC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816" y="487276"/>
            <a:ext cx="5144218" cy="28960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509873-DB34-3848-5DD6-470C160FB7F4}"/>
              </a:ext>
            </a:extLst>
          </p:cNvPr>
          <p:cNvSpPr txBox="1"/>
          <p:nvPr/>
        </p:nvSpPr>
        <p:spPr>
          <a:xfrm>
            <a:off x="1019331" y="1136065"/>
            <a:ext cx="8240841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 err="1"/>
              <a:t>MediTrack</a:t>
            </a:r>
            <a:r>
              <a:rPr lang="en-IN" sz="3200" b="1" dirty="0"/>
              <a:t> system: </a:t>
            </a:r>
            <a:r>
              <a:rPr lang="en-IN" sz="3200" dirty="0" err="1"/>
              <a:t>MediTrack</a:t>
            </a:r>
            <a:r>
              <a:rPr lang="en-IN" sz="3200" dirty="0"/>
              <a:t> is a hospital patient-management system built using MySQL for relational data handling.</a:t>
            </a:r>
          </a:p>
          <a:p>
            <a:pPr>
              <a:buNone/>
            </a:pPr>
            <a:endParaRPr lang="en-IN" sz="3200" dirty="0"/>
          </a:p>
          <a:p>
            <a:pPr>
              <a:buNone/>
            </a:pPr>
            <a:r>
              <a:rPr lang="en-IN" sz="3200" b="1" dirty="0"/>
              <a:t>Core scope: </a:t>
            </a:r>
            <a:r>
              <a:rPr lang="en-IN" sz="3200" dirty="0"/>
              <a:t>The project focuses on managing patients, doctors, appointments, prescriptions, and billing in one database.</a:t>
            </a:r>
          </a:p>
          <a:p>
            <a:pPr>
              <a:buNone/>
            </a:pPr>
            <a:endParaRPr lang="en-IN" sz="3200" dirty="0"/>
          </a:p>
          <a:p>
            <a:pPr>
              <a:buNone/>
            </a:pPr>
            <a:r>
              <a:rPr lang="en-IN" sz="3200" b="1" dirty="0"/>
              <a:t>SQL in practice: </a:t>
            </a:r>
            <a:r>
              <a:rPr lang="en-IN" sz="3200" dirty="0"/>
              <a:t>It demonstrates how SQL supports real hospital workflows such as scheduling, treatment, and payment tracking.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40F0A2-1C22-8416-D337-E7E5450A172D}"/>
              </a:ext>
            </a:extLst>
          </p:cNvPr>
          <p:cNvSpPr/>
          <p:nvPr/>
        </p:nvSpPr>
        <p:spPr>
          <a:xfrm>
            <a:off x="1382793" y="212735"/>
            <a:ext cx="75139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u="sng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Introduction to </a:t>
            </a:r>
            <a:r>
              <a:rPr lang="en-US" sz="5400" b="0" u="sng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MediTrack</a:t>
            </a:r>
            <a:endParaRPr lang="en-US" sz="54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36883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F2428"/>
                </a:solidFill>
                <a:latin typeface="Georgia"/>
              </a:rPr>
              <a:t>What the project does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88136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5603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Calibri"/>
              </a:rPr>
              <a:t>Tracks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828800"/>
            <a:ext cx="78638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F2428"/>
                </a:solidFill>
                <a:latin typeface="Calibri"/>
              </a:rPr>
              <a:t>patients, doctors, appointments, prescriptions and billing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71800"/>
            <a:ext cx="1088136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25603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Calibri"/>
              </a:rPr>
              <a:t>Built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971800"/>
            <a:ext cx="78638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F2428"/>
                </a:solidFill>
                <a:latin typeface="Calibri"/>
              </a:rPr>
              <a:t>MySQL, with 5 linked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14800"/>
            <a:ext cx="1088136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25603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Calibri"/>
              </a:rPr>
              <a:t>Why linked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114800"/>
            <a:ext cx="78638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F2428"/>
                </a:solidFill>
                <a:latin typeface="Calibri"/>
              </a:rPr>
              <a:t>Patient and doctor details are stored once and reused, so updates stay simple and reports stay correct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257800"/>
            <a:ext cx="1088136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25603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Calibri"/>
              </a:rPr>
              <a:t>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553194"/>
            <a:ext cx="786384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 dirty="0">
                <a:solidFill>
                  <a:srgbClr val="1F2428"/>
                </a:solidFill>
                <a:latin typeface="Calibri"/>
              </a:rPr>
              <a:t> </a:t>
            </a:r>
            <a:r>
              <a:rPr lang="en-US" dirty="0">
                <a:solidFill>
                  <a:srgbClr val="1F2428"/>
                </a:solidFill>
                <a:latin typeface="Calibri"/>
              </a:rPr>
              <a:t>Q</a:t>
            </a:r>
            <a:r>
              <a:rPr sz="1800" b="0" dirty="0">
                <a:solidFill>
                  <a:srgbClr val="1F2428"/>
                </a:solidFill>
                <a:latin typeface="Calibri"/>
              </a:rPr>
              <a:t>uestions with SQL: filters, joins, grouping, subqueries, indexes and views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F2428"/>
                </a:solidFill>
                <a:latin typeface="Georgia"/>
              </a:rPr>
              <a:t>The five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F666B"/>
                </a:solidFill>
                <a:latin typeface="Calibri"/>
              </a:rPr>
              <a:t>PK = primary key, FK = foreign key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20574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2057400" cy="640080"/>
          </a:xfrm>
          <a:prstGeom prst="roundRect">
            <a:avLst>
              <a:gd name="adj" fmla="val 4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057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Patients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18288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Patient_ID (PK)</a:t>
            </a:r>
          </a:p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Name</a:t>
            </a:r>
          </a:p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Age</a:t>
            </a:r>
          </a:p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Gender</a:t>
            </a:r>
          </a:p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Contact</a:t>
            </a:r>
          </a:p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Email</a:t>
            </a:r>
          </a:p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Address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2928" y="1783080"/>
            <a:ext cx="20574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52928" y="1783080"/>
            <a:ext cx="2057400" cy="640080"/>
          </a:xfrm>
          <a:prstGeom prst="roundRect">
            <a:avLst>
              <a:gd name="adj" fmla="val 4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52928" y="1783080"/>
            <a:ext cx="2057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Doctors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2560320"/>
            <a:ext cx="18288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Doctor_ID (PK)</a:t>
            </a:r>
          </a:p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Name</a:t>
            </a:r>
          </a:p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Specialization</a:t>
            </a:r>
          </a:p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Fee</a:t>
            </a:r>
          </a:p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Experience_Years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65776" y="1783080"/>
            <a:ext cx="20574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65776" y="1783080"/>
            <a:ext cx="2057400" cy="640080"/>
          </a:xfrm>
          <a:prstGeom prst="roundRect">
            <a:avLst>
              <a:gd name="adj" fmla="val 4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65776" y="1783080"/>
            <a:ext cx="2057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Appointments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936" y="2560320"/>
            <a:ext cx="18288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Appointment_ID (PK)</a:t>
            </a:r>
          </a:p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Patient_ID (FK)</a:t>
            </a:r>
          </a:p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Doctor_ID (FK)</a:t>
            </a:r>
          </a:p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Appointment_Date</a:t>
            </a:r>
          </a:p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78624" y="1783080"/>
            <a:ext cx="20574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278624" y="1783080"/>
            <a:ext cx="2057400" cy="640080"/>
          </a:xfrm>
          <a:prstGeom prst="roundRect">
            <a:avLst>
              <a:gd name="adj" fmla="val 4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78624" y="1783080"/>
            <a:ext cx="2057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Prescriptions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5783" y="2560320"/>
            <a:ext cx="18288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Prescription_ID (PK)</a:t>
            </a:r>
          </a:p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Appointment_ID (FK)</a:t>
            </a:r>
          </a:p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Medicine</a:t>
            </a:r>
          </a:p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Dosage</a:t>
            </a:r>
          </a:p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Duration_Days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91472" y="1783080"/>
            <a:ext cx="20574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491472" y="1783080"/>
            <a:ext cx="2057400" cy="640080"/>
          </a:xfrm>
          <a:prstGeom prst="roundRect">
            <a:avLst>
              <a:gd name="adj" fmla="val 4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91472" y="1783080"/>
            <a:ext cx="2057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Billing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8632" y="2560320"/>
            <a:ext cx="18288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Bill_ID (PK)</a:t>
            </a:r>
          </a:p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Appointment_ID (FK)</a:t>
            </a:r>
          </a:p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Amount</a:t>
            </a:r>
          </a:p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Payment_Method</a:t>
            </a:r>
          </a:p>
          <a:p>
            <a:pPr algn="l"/>
            <a:r>
              <a:rPr sz="1400" b="0">
                <a:solidFill>
                  <a:srgbClr val="1F2428"/>
                </a:solidFill>
                <a:latin typeface="Calibri"/>
              </a:rPr>
              <a:t>Payment_Status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DD230E-36D1-D289-DB08-DB9985A73F36}"/>
              </a:ext>
            </a:extLst>
          </p:cNvPr>
          <p:cNvSpPr txBox="1"/>
          <p:nvPr/>
        </p:nvSpPr>
        <p:spPr>
          <a:xfrm>
            <a:off x="946878" y="147430"/>
            <a:ext cx="102982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sz="4000" b="1" i="0" u="sng" dirty="0">
                <a:solidFill>
                  <a:schemeClr val="tx1"/>
                </a:solidFill>
                <a:effectLst/>
                <a:latin typeface="+mn-lt"/>
              </a:rPr>
              <a:t>Entity Relationship Diagram and Table Structure</a:t>
            </a:r>
            <a:endParaRPr lang="en-IN" sz="4000" b="1" i="0" u="sng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292D0-586A-80A9-2848-5E99D519812C}"/>
              </a:ext>
            </a:extLst>
          </p:cNvPr>
          <p:cNvSpPr txBox="1"/>
          <p:nvPr/>
        </p:nvSpPr>
        <p:spPr>
          <a:xfrm>
            <a:off x="946878" y="989351"/>
            <a:ext cx="992099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Patients and Doctors: </a:t>
            </a:r>
            <a:r>
              <a:rPr lang="en-IN" sz="2800" dirty="0"/>
              <a:t>Patients store patient identity, contact, email, address, and demographic details; Doctors store specialization, fee, and experience.</a:t>
            </a:r>
          </a:p>
          <a:p>
            <a:pPr>
              <a:buNone/>
            </a:pPr>
            <a:endParaRPr lang="en-IN" sz="2800" dirty="0"/>
          </a:p>
          <a:p>
            <a:pPr>
              <a:buNone/>
            </a:pPr>
            <a:r>
              <a:rPr lang="en-IN" sz="2800" b="1" dirty="0"/>
              <a:t>Appointments, Prescriptions, Billing: </a:t>
            </a:r>
            <a:r>
              <a:rPr lang="en-IN" sz="2800" dirty="0"/>
              <a:t>Appointments connect patients and doctors through foreign keys, while Prescriptions and Billing depend on </a:t>
            </a:r>
            <a:r>
              <a:rPr lang="en-IN" sz="2800" dirty="0" err="1"/>
              <a:t>Appointment_ID</a:t>
            </a:r>
            <a:r>
              <a:rPr lang="en-IN" sz="2800" dirty="0"/>
              <a:t>.</a:t>
            </a:r>
          </a:p>
          <a:p>
            <a:pPr>
              <a:buNone/>
            </a:pPr>
            <a:endParaRPr lang="en-IN" sz="2800" dirty="0"/>
          </a:p>
          <a:p>
            <a:pPr>
              <a:buNone/>
            </a:pPr>
            <a:r>
              <a:rPr lang="en-IN" sz="2800" dirty="0"/>
              <a:t> </a:t>
            </a:r>
            <a:r>
              <a:rPr lang="en-IN" sz="2800" b="1" dirty="0"/>
              <a:t>ERD relationships: </a:t>
            </a:r>
            <a:r>
              <a:rPr lang="en-IN" sz="2800" dirty="0"/>
              <a:t>The ERD shows one-to-many relationships for patients, doctors, and prescriptions, plus a one-to-one relationship for appointments and billing.</a:t>
            </a:r>
          </a:p>
        </p:txBody>
      </p:sp>
    </p:spTree>
    <p:extLst>
      <p:ext uri="{BB962C8B-B14F-4D97-AF65-F5344CB8AC3E}">
        <p14:creationId xmlns:p14="http://schemas.microsoft.com/office/powerpoint/2010/main" val="1572793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F2428"/>
                </a:solidFill>
                <a:latin typeface="Georgia"/>
              </a:rPr>
              <a:t>ER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F666B"/>
                </a:solidFill>
                <a:latin typeface="Calibri"/>
              </a:rPr>
              <a:t>Relationship diagram: 1 = one, M = many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37744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377440" cy="411480"/>
          </a:xfrm>
          <a:prstGeom prst="roundRect">
            <a:avLst>
              <a:gd name="adj" fmla="val 4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Patients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21945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428"/>
                </a:solidFill>
                <a:latin typeface="Calibri"/>
              </a:rPr>
              <a:t>Patient_ID (PK)</a:t>
            </a:r>
          </a:p>
          <a:p>
            <a:pPr algn="l"/>
            <a:r>
              <a:rPr sz="1150" b="0">
                <a:solidFill>
                  <a:srgbClr val="1F2428"/>
                </a:solidFill>
                <a:latin typeface="Calibri"/>
              </a:rPr>
              <a:t>Name, Age, Gender</a:t>
            </a:r>
          </a:p>
          <a:p>
            <a:pPr algn="l"/>
            <a:r>
              <a:rPr sz="1150" b="0">
                <a:solidFill>
                  <a:srgbClr val="1F2428"/>
                </a:solidFill>
                <a:latin typeface="Calibri"/>
              </a:rPr>
              <a:t>Contact, Email, Address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2011680"/>
            <a:ext cx="246888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892040" y="2011680"/>
            <a:ext cx="2468880" cy="411480"/>
          </a:xfrm>
          <a:prstGeom prst="roundRect">
            <a:avLst>
              <a:gd name="adj" fmla="val 4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2011680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Appointments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79" y="2468880"/>
            <a:ext cx="22860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428"/>
                </a:solidFill>
                <a:latin typeface="Calibri"/>
              </a:rPr>
              <a:t>Appointment_ID (PK)</a:t>
            </a:r>
          </a:p>
          <a:p>
            <a:pPr algn="l"/>
            <a:r>
              <a:rPr sz="1150" b="0">
                <a:solidFill>
                  <a:srgbClr val="1F2428"/>
                </a:solidFill>
                <a:latin typeface="Calibri"/>
              </a:rPr>
              <a:t>Patient_ID (FK)</a:t>
            </a:r>
          </a:p>
          <a:p>
            <a:pPr algn="l"/>
            <a:r>
              <a:rPr sz="1150" b="0">
                <a:solidFill>
                  <a:srgbClr val="1F2428"/>
                </a:solidFill>
                <a:latin typeface="Calibri"/>
              </a:rPr>
              <a:t>Doctor_ID (FK)</a:t>
            </a:r>
          </a:p>
          <a:p>
            <a:pPr algn="l"/>
            <a:r>
              <a:rPr sz="1150" b="0">
                <a:solidFill>
                  <a:srgbClr val="1F2428"/>
                </a:solidFill>
                <a:latin typeface="Calibri"/>
              </a:rPr>
              <a:t>Appointment_Date,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2011680"/>
            <a:ext cx="237744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235440" y="2011680"/>
            <a:ext cx="2377440" cy="411480"/>
          </a:xfrm>
          <a:prstGeom prst="roundRect">
            <a:avLst>
              <a:gd name="adj" fmla="val 4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0" y="201168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Doctors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468880"/>
            <a:ext cx="21945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428"/>
                </a:solidFill>
                <a:latin typeface="Calibri"/>
              </a:rPr>
              <a:t>Doctor_ID (PK)</a:t>
            </a:r>
          </a:p>
          <a:p>
            <a:pPr algn="l"/>
            <a:r>
              <a:rPr sz="1150" b="0">
                <a:solidFill>
                  <a:srgbClr val="1F2428"/>
                </a:solidFill>
                <a:latin typeface="Calibri"/>
              </a:rPr>
              <a:t>Name, Specialization</a:t>
            </a:r>
          </a:p>
          <a:p>
            <a:pPr algn="l"/>
            <a:r>
              <a:rPr sz="1150" b="0">
                <a:solidFill>
                  <a:srgbClr val="1F2428"/>
                </a:solidFill>
                <a:latin typeface="Calibri"/>
              </a:rPr>
              <a:t>Fee, Experience_Years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4754880"/>
            <a:ext cx="274320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468880" y="4754880"/>
            <a:ext cx="2743200" cy="411480"/>
          </a:xfrm>
          <a:prstGeom prst="roundRect">
            <a:avLst>
              <a:gd name="adj" fmla="val 4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68880" y="475488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Prescriptions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5212080"/>
            <a:ext cx="25603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428"/>
                </a:solidFill>
                <a:latin typeface="Calibri"/>
              </a:rPr>
              <a:t>Prescription_ID (PK)</a:t>
            </a:r>
          </a:p>
          <a:p>
            <a:pPr algn="l"/>
            <a:r>
              <a:rPr sz="1150" b="0">
                <a:solidFill>
                  <a:srgbClr val="1F2428"/>
                </a:solidFill>
                <a:latin typeface="Calibri"/>
              </a:rPr>
              <a:t>Appointment_ID (FK)</a:t>
            </a:r>
          </a:p>
          <a:p>
            <a:pPr algn="l"/>
            <a:r>
              <a:rPr sz="1150" b="0">
                <a:solidFill>
                  <a:srgbClr val="1F2428"/>
                </a:solidFill>
                <a:latin typeface="Calibri"/>
              </a:rPr>
              <a:t>Medicine, Dosage, Duration_Days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4754880"/>
            <a:ext cx="27432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040880" y="4754880"/>
            <a:ext cx="2743200" cy="411480"/>
          </a:xfrm>
          <a:prstGeom prst="roundRect">
            <a:avLst>
              <a:gd name="adj" fmla="val 4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0" y="475488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Billing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212080"/>
            <a:ext cx="25603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428"/>
                </a:solidFill>
                <a:latin typeface="Calibri"/>
              </a:rPr>
              <a:t>Bill_ID (PK)</a:t>
            </a:r>
          </a:p>
          <a:p>
            <a:pPr algn="l"/>
            <a:r>
              <a:rPr sz="1150" b="0">
                <a:solidFill>
                  <a:srgbClr val="1F2428"/>
                </a:solidFill>
                <a:latin typeface="Calibri"/>
              </a:rPr>
              <a:t>Appointment_ID (FK)</a:t>
            </a:r>
          </a:p>
          <a:p>
            <a:pPr algn="l"/>
            <a:r>
              <a:rPr sz="1150" b="0">
                <a:solidFill>
                  <a:srgbClr val="1F2428"/>
                </a:solidFill>
                <a:latin typeface="Calibri"/>
              </a:rPr>
              <a:t>Amount, Payment_Method</a:t>
            </a:r>
          </a:p>
          <a:p>
            <a:pPr algn="l"/>
            <a:r>
              <a:rPr sz="1150" b="0">
                <a:solidFill>
                  <a:srgbClr val="1F2428"/>
                </a:solidFill>
                <a:latin typeface="Calibri"/>
              </a:rPr>
              <a:t>Payment_Status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926080" y="2834640"/>
            <a:ext cx="1965960" cy="0"/>
          </a:xfrm>
          <a:prstGeom prst="line">
            <a:avLst/>
          </a:prstGeom>
          <a:ln w="25400">
            <a:solidFill>
              <a:srgbClr val="1F24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360920" y="2834640"/>
            <a:ext cx="1874520" cy="0"/>
          </a:xfrm>
          <a:prstGeom prst="line">
            <a:avLst/>
          </a:prstGeom>
          <a:ln w="25400">
            <a:solidFill>
              <a:srgbClr val="1F24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840480" y="3611880"/>
            <a:ext cx="1645920" cy="1143000"/>
          </a:xfrm>
          <a:prstGeom prst="line">
            <a:avLst/>
          </a:prstGeom>
          <a:ln w="25400">
            <a:solidFill>
              <a:srgbClr val="1F24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766560" y="3611880"/>
            <a:ext cx="1645920" cy="1143000"/>
          </a:xfrm>
          <a:prstGeom prst="line">
            <a:avLst/>
          </a:prstGeom>
          <a:ln w="25400">
            <a:solidFill>
              <a:srgbClr val="1F24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926080" y="246888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Calibri"/>
              </a:rPr>
              <a:t>1  ——  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46888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Calibri"/>
              </a:rPr>
              <a:t>M  —— 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79476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Calibri"/>
              </a:rPr>
              <a:t>1 to 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7947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Calibri"/>
              </a:rPr>
              <a:t>1 to 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2606040"/>
            <a:ext cx="9144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966960" y="4983480"/>
            <a:ext cx="2103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F666B"/>
                </a:solidFill>
                <a:latin typeface="Calibri"/>
              </a:rPr>
              <a:t>Design intent: one bill per appointment. The schema does not enforce this with a UNIQUE key.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2926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F666B"/>
                </a:solidFill>
                <a:latin typeface="Calibri"/>
              </a:rPr>
              <a:t>books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2926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F666B"/>
                </a:solidFill>
                <a:latin typeface="Calibri"/>
              </a:rPr>
              <a:t>attends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72E62C-8749-05C1-706E-F430D063E8C1}"/>
              </a:ext>
            </a:extLst>
          </p:cNvPr>
          <p:cNvSpPr txBox="1"/>
          <p:nvPr/>
        </p:nvSpPr>
        <p:spPr>
          <a:xfrm>
            <a:off x="2023673" y="108759"/>
            <a:ext cx="91140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sz="3600" b="1" i="0" u="sng" dirty="0">
                <a:solidFill>
                  <a:schemeClr val="tx1"/>
                </a:solidFill>
                <a:effectLst/>
                <a:latin typeface="+mn-lt"/>
              </a:rPr>
              <a:t>Database Creation and Table Implementation</a:t>
            </a:r>
            <a:endParaRPr lang="en-IN" sz="3600" b="1" i="0" u="sng" dirty="0">
              <a:solidFill>
                <a:srgbClr val="000000"/>
              </a:solidFill>
              <a:effectLst/>
              <a:latin typeface="Roboto" panose="020F05020202040302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C540D-1168-E7F4-98D2-08612B1547BC}"/>
              </a:ext>
            </a:extLst>
          </p:cNvPr>
          <p:cNvSpPr txBox="1"/>
          <p:nvPr/>
        </p:nvSpPr>
        <p:spPr>
          <a:xfrm>
            <a:off x="1277911" y="1113260"/>
            <a:ext cx="999469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Database setup: </a:t>
            </a:r>
            <a:r>
              <a:rPr lang="en-IN" sz="2800" dirty="0"/>
              <a:t>The SQL script starts with creating the </a:t>
            </a:r>
            <a:r>
              <a:rPr lang="en-IN" sz="2800" dirty="0" err="1"/>
              <a:t>MediTrack</a:t>
            </a:r>
            <a:r>
              <a:rPr lang="en-IN" sz="2800" dirty="0"/>
              <a:t> database and switching into it before defining tables.</a:t>
            </a:r>
          </a:p>
          <a:p>
            <a:pPr>
              <a:buNone/>
            </a:pPr>
            <a:endParaRPr lang="en-IN" sz="2800" dirty="0"/>
          </a:p>
          <a:p>
            <a:pPr>
              <a:buNone/>
            </a:pPr>
            <a:r>
              <a:rPr lang="en-IN" sz="2800" b="1" dirty="0"/>
              <a:t>Table creation: </a:t>
            </a:r>
            <a:r>
              <a:rPr lang="en-IN" sz="2800" dirty="0"/>
              <a:t>Patients and Doctors tables are created first, followed by Appointments, Prescriptions, and Billing with primary and foreign keys.</a:t>
            </a:r>
          </a:p>
          <a:p>
            <a:pPr>
              <a:buNone/>
            </a:pPr>
            <a:endParaRPr lang="en-IN" sz="2800" dirty="0"/>
          </a:p>
          <a:p>
            <a:pPr>
              <a:buNone/>
            </a:pPr>
            <a:r>
              <a:rPr lang="en-IN" sz="2800" dirty="0"/>
              <a:t> </a:t>
            </a:r>
            <a:r>
              <a:rPr lang="en-IN" sz="2800" b="1" dirty="0"/>
              <a:t>Sample data: </a:t>
            </a:r>
            <a:r>
              <a:rPr lang="en-IN" sz="2800" dirty="0"/>
              <a:t>Sample data is inserted into each table to build a realistic working hospital dataset for testing queries and outputs.</a:t>
            </a:r>
          </a:p>
        </p:txBody>
      </p:sp>
    </p:spTree>
    <p:extLst>
      <p:ext uri="{BB962C8B-B14F-4D97-AF65-F5344CB8AC3E}">
        <p14:creationId xmlns:p14="http://schemas.microsoft.com/office/powerpoint/2010/main" val="2436554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F2428"/>
                </a:solidFill>
                <a:latin typeface="Georgia"/>
              </a:rPr>
              <a:t>How the tables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F666B"/>
                </a:solidFill>
                <a:latin typeface="Calibri"/>
              </a:rPr>
              <a:t>Each link is a foreign key in the child table. All four are FOREIGN KEY constraints. One bill per appointment is intent 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830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7830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Meaning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7830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Foreign key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1088136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19" y="2240280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428"/>
                </a:solidFill>
                <a:latin typeface="Calibri"/>
              </a:rPr>
              <a:t>Patients → Appointments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240280"/>
            <a:ext cx="1097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Calibri"/>
              </a:rPr>
              <a:t>1 :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240280"/>
            <a:ext cx="3383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Calibri"/>
              </a:rPr>
              <a:t>One patient can book many appointments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40280"/>
            <a:ext cx="3108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Calibri"/>
              </a:rPr>
              <a:t>Appointments.Patient_ID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88136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19" y="3154680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428"/>
                </a:solidFill>
                <a:latin typeface="Calibri"/>
              </a:rPr>
              <a:t>Doctors → Appointments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154680"/>
            <a:ext cx="1097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Calibri"/>
              </a:rPr>
              <a:t>1 :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154680"/>
            <a:ext cx="3383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Calibri"/>
              </a:rPr>
              <a:t>One doctor can attend many appointments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154680"/>
            <a:ext cx="3108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Calibri"/>
              </a:rPr>
              <a:t>Appointments.Doctor_ID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69080"/>
            <a:ext cx="1088136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19" y="4069080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428"/>
                </a:solidFill>
                <a:latin typeface="Calibri"/>
              </a:rPr>
              <a:t>Appointments → Prescriptions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069080"/>
            <a:ext cx="1097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Calibri"/>
              </a:rPr>
              <a:t>1 :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069080"/>
            <a:ext cx="3383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Calibri"/>
              </a:rPr>
              <a:t>One visit can lead to several medicines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069080"/>
            <a:ext cx="3108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Calibri"/>
              </a:rPr>
              <a:t>Prescriptions.Appointment_ID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83480"/>
            <a:ext cx="1088136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19" y="4983480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428"/>
                </a:solidFill>
                <a:latin typeface="Calibri"/>
              </a:rPr>
              <a:t>Appointments → Billing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983480"/>
            <a:ext cx="1097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Calibri"/>
              </a:rPr>
              <a:t>1 : 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983480"/>
            <a:ext cx="3383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Calibri"/>
              </a:rPr>
              <a:t>Schema allows many bills per appointment; design intends one (not enforced by a UNIQUE key)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983480"/>
            <a:ext cx="3108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428"/>
                </a:solidFill>
                <a:latin typeface="Calibri"/>
              </a:rPr>
              <a:t>Billing.Appointment_ID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F2428"/>
                </a:solidFill>
                <a:latin typeface="Georgia"/>
              </a:rPr>
              <a:t>Example queries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29296"/>
            <a:ext cx="108813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9160" y="167335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F766E"/>
                </a:solidFill>
                <a:latin typeface="Calibri"/>
              </a:rPr>
              <a:t>Subquery: bills above average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63981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1F2428"/>
                </a:solidFill>
                <a:latin typeface="Consolas"/>
              </a:rPr>
              <a:t>SELECT * FROM Billing</a:t>
            </a:r>
          </a:p>
          <a:p>
            <a:pPr algn="l"/>
            <a:r>
              <a:rPr sz="1300" b="0" dirty="0">
                <a:solidFill>
                  <a:srgbClr val="1F2428"/>
                </a:solidFill>
                <a:latin typeface="Consolas"/>
              </a:rPr>
              <a:t>WHERE Amount &gt; (SELECT AVG(Amount) FROM Billing);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222437"/>
            <a:ext cx="108813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292441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F766E"/>
                </a:solidFill>
                <a:latin typeface="Calibri"/>
              </a:rPr>
              <a:t>Group: revenue by payment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16797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1F2428"/>
                </a:solidFill>
                <a:latin typeface="Consolas"/>
              </a:rPr>
              <a:t>SELECT </a:t>
            </a:r>
            <a:r>
              <a:rPr sz="1300" b="0" dirty="0" err="1">
                <a:solidFill>
                  <a:srgbClr val="1F2428"/>
                </a:solidFill>
                <a:latin typeface="Consolas"/>
              </a:rPr>
              <a:t>Payment_Method</a:t>
            </a:r>
            <a:r>
              <a:rPr sz="1300" b="0" dirty="0">
                <a:solidFill>
                  <a:srgbClr val="1F2428"/>
                </a:solidFill>
                <a:latin typeface="Consolas"/>
              </a:rPr>
              <a:t>, SUM(Amount) AS </a:t>
            </a:r>
            <a:r>
              <a:rPr sz="1300" b="0" dirty="0" err="1">
                <a:solidFill>
                  <a:srgbClr val="1F2428"/>
                </a:solidFill>
                <a:latin typeface="Consolas"/>
              </a:rPr>
              <a:t>Total_Revenue</a:t>
            </a:r>
            <a:endParaRPr sz="1300" b="0" dirty="0">
              <a:solidFill>
                <a:srgbClr val="1F2428"/>
              </a:solidFill>
              <a:latin typeface="Consolas"/>
            </a:endParaRPr>
          </a:p>
          <a:p>
            <a:pPr algn="l"/>
            <a:r>
              <a:rPr sz="1300" b="0" dirty="0">
                <a:solidFill>
                  <a:srgbClr val="1F2428"/>
                </a:solidFill>
                <a:latin typeface="Consolas"/>
              </a:rPr>
              <a:t>FROM Billing GROUP BY </a:t>
            </a:r>
            <a:r>
              <a:rPr sz="1300" b="0" dirty="0" err="1">
                <a:solidFill>
                  <a:srgbClr val="1F2428"/>
                </a:solidFill>
                <a:latin typeface="Consolas"/>
              </a:rPr>
              <a:t>Payment_Method</a:t>
            </a:r>
            <a:r>
              <a:rPr sz="1300" b="0" dirty="0">
                <a:solidFill>
                  <a:srgbClr val="1F2428"/>
                </a:solidFill>
                <a:latin typeface="Consolas"/>
              </a:rPr>
              <a:t>;</a:t>
            </a:r>
          </a:p>
        </p:txBody>
      </p:sp>
      <p:sp>
        <p:nvSpPr>
          <p:cNvPr id="19" name="Rounded Rectangle 9">
            <a:extLst>
              <a:ext uri="{FF2B5EF4-FFF2-40B4-BE49-F238E27FC236}">
                <a16:creationId xmlns:a16="http://schemas.microsoft.com/office/drawing/2014/main" id="{D3D516A5-53F1-5430-3BAD-C484ECAA88B6}"/>
              </a:ext>
            </a:extLst>
          </p:cNvPr>
          <p:cNvSpPr/>
          <p:nvPr/>
        </p:nvSpPr>
        <p:spPr>
          <a:xfrm>
            <a:off x="487680" y="4780391"/>
            <a:ext cx="10881360" cy="151565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2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F766E"/>
                </a:solidFill>
              </a:rPr>
              <a:t>Find the payment method that has processed the most transaction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779965-0993-4497-F071-A27FA27CB62B}"/>
              </a:ext>
            </a:extLst>
          </p:cNvPr>
          <p:cNvSpPr txBox="1"/>
          <p:nvPr/>
        </p:nvSpPr>
        <p:spPr>
          <a:xfrm>
            <a:off x="710534" y="5633471"/>
            <a:ext cx="60935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0" dirty="0">
                <a:solidFill>
                  <a:srgbClr val="1F2428"/>
                </a:solidFill>
                <a:latin typeface="Consolas"/>
              </a:rPr>
              <a:t>SELECT </a:t>
            </a:r>
            <a:r>
              <a:rPr lang="en-US" sz="1300" b="0" dirty="0" err="1">
                <a:solidFill>
                  <a:srgbClr val="1F2428"/>
                </a:solidFill>
                <a:latin typeface="Consolas"/>
              </a:rPr>
              <a:t>Payment_Method</a:t>
            </a:r>
            <a:r>
              <a:rPr lang="en-US" sz="1300" b="0" dirty="0">
                <a:solidFill>
                  <a:srgbClr val="1F2428"/>
                </a:solidFill>
                <a:latin typeface="Consolas"/>
              </a:rPr>
              <a:t>, COUNT(*) AS </a:t>
            </a:r>
            <a:r>
              <a:rPr lang="en-US" sz="1300" b="0" dirty="0" err="1">
                <a:solidFill>
                  <a:srgbClr val="1F2428"/>
                </a:solidFill>
                <a:latin typeface="Consolas"/>
              </a:rPr>
              <a:t>Transaction_Count</a:t>
            </a:r>
            <a:r>
              <a:rPr lang="en-US" sz="1300" b="0" dirty="0">
                <a:solidFill>
                  <a:srgbClr val="1F2428"/>
                </a:solidFill>
                <a:latin typeface="Consolas"/>
              </a:rPr>
              <a:t> FROM Billing</a:t>
            </a:r>
          </a:p>
          <a:p>
            <a:pPr algn="l"/>
            <a:r>
              <a:rPr lang="en-US" sz="1300" b="0" dirty="0">
                <a:solidFill>
                  <a:srgbClr val="1F2428"/>
                </a:solidFill>
                <a:latin typeface="Consolas"/>
              </a:rPr>
              <a:t>  GROUP BY </a:t>
            </a:r>
            <a:r>
              <a:rPr lang="en-US" sz="1300" b="0" dirty="0" err="1">
                <a:solidFill>
                  <a:srgbClr val="1F2428"/>
                </a:solidFill>
                <a:latin typeface="Consolas"/>
              </a:rPr>
              <a:t>Payment_Method</a:t>
            </a:r>
            <a:r>
              <a:rPr lang="en-US" sz="1300" b="0" dirty="0">
                <a:solidFill>
                  <a:srgbClr val="1F2428"/>
                </a:solidFill>
                <a:latin typeface="Consolas"/>
              </a:rPr>
              <a:t> ORDER BY </a:t>
            </a:r>
            <a:r>
              <a:rPr lang="en-US" sz="1300" b="0" dirty="0" err="1">
                <a:solidFill>
                  <a:srgbClr val="1F2428"/>
                </a:solidFill>
                <a:latin typeface="Consolas"/>
              </a:rPr>
              <a:t>Transaction_Count</a:t>
            </a:r>
            <a:r>
              <a:rPr lang="en-US" sz="1300" b="0" dirty="0">
                <a:solidFill>
                  <a:srgbClr val="1F2428"/>
                </a:solidFill>
                <a:latin typeface="Consolas"/>
              </a:rPr>
              <a:t> DESC LIMIT 1;</a:t>
            </a:r>
          </a:p>
          <a:p>
            <a:pPr algn="l"/>
            <a:endParaRPr lang="en-US" sz="1300" b="0" dirty="0">
              <a:solidFill>
                <a:srgbClr val="1F2428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3400" b="1" dirty="0">
                <a:solidFill>
                  <a:srgbClr val="1F2428"/>
                </a:solidFill>
                <a:latin typeface="Georgia"/>
              </a:rPr>
              <a:t>Conclusion</a:t>
            </a:r>
            <a:endParaRPr sz="3400" b="1" dirty="0">
              <a:solidFill>
                <a:srgbClr val="1F2428"/>
              </a:solidFill>
              <a:latin typeface="Georgi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645273-C9EE-7E66-B951-F736F09E2B75}"/>
              </a:ext>
            </a:extLst>
          </p:cNvPr>
          <p:cNvSpPr txBox="1"/>
          <p:nvPr/>
        </p:nvSpPr>
        <p:spPr>
          <a:xfrm>
            <a:off x="483432" y="1299679"/>
            <a:ext cx="110380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Efficient data management: Patient details, doctor specializations, appointment schedules, prescribed medicines, and payment records are organized into separate tables.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E56805-36D9-EE08-8573-AFF3C54BA554}"/>
              </a:ext>
            </a:extLst>
          </p:cNvPr>
          <p:cNvSpPr txBox="1"/>
          <p:nvPr/>
        </p:nvSpPr>
        <p:spPr>
          <a:xfrm>
            <a:off x="483433" y="2377352"/>
            <a:ext cx="10804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Maintained data integrity: Primary keys and foreign keys connect related records and help maintain consistency across tables.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D02C19-BDE9-ADFF-8D8C-2A58646B98B4}"/>
              </a:ext>
            </a:extLst>
          </p:cNvPr>
          <p:cNvSpPr txBox="1"/>
          <p:nvPr/>
        </p:nvSpPr>
        <p:spPr>
          <a:xfrm>
            <a:off x="483433" y="3443274"/>
            <a:ext cx="105643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Appointment tracking: The Appointments table connects patients with doctors and stores appointment dates and statuses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DD63AC-F970-014B-ECA8-88F3E43150F4}"/>
              </a:ext>
            </a:extLst>
          </p:cNvPr>
          <p:cNvSpPr txBox="1"/>
          <p:nvPr/>
        </p:nvSpPr>
        <p:spPr>
          <a:xfrm>
            <a:off x="483433" y="4634992"/>
            <a:ext cx="104144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Billing and payment tracking: The Billing table records bill amounts, payment methods, and payment statuses.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601C36D-0224-431A-7870-D82203713FC2}"/>
              </a:ext>
            </a:extLst>
          </p:cNvPr>
          <p:cNvSpPr/>
          <p:nvPr/>
        </p:nvSpPr>
        <p:spPr>
          <a:xfrm>
            <a:off x="4521531" y="2967335"/>
            <a:ext cx="31489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67528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827</Words>
  <Application>Microsoft Office PowerPoint</Application>
  <PresentationFormat>Widescreen</PresentationFormat>
  <Paragraphs>133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Anudip</dc:creator>
  <cp:keywords/>
  <dc:description>generated using python-pptx</dc:description>
  <cp:lastModifiedBy>Anudip</cp:lastModifiedBy>
  <cp:revision>2</cp:revision>
  <dcterms:created xsi:type="dcterms:W3CDTF">2013-01-27T09:14:16Z</dcterms:created>
  <dcterms:modified xsi:type="dcterms:W3CDTF">2026-10-29T06:44:35Z</dcterms:modified>
  <cp:category/>
</cp:coreProperties>
</file>