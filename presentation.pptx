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Libre Caslon Display" panose="020B0604020202020204" charset="0"/>
      <p:regular r:id="rId18"/>
    </p:embeddedFont>
    <p:embeddedFont>
      <p:font typeface="Work Sans" panose="020F0502020204030204" pitchFamily="2" charset="0"/>
      <p:regular r:id="rId19"/>
    </p:embeddedFont>
    <p:embeddedFont>
      <p:font typeface="Work Sans Bold" panose="020B0604020202020204" charset="0"/>
      <p:regular r:id="rId20"/>
    </p:embeddedFont>
    <p:embeddedFont>
      <p:font typeface="Work Sans Medium" panose="020F0502020204030204" pitchFamily="2" charset="0"/>
      <p:regular r:id="rId21"/>
    </p:embeddedFont>
    <p:embeddedFont>
      <p:font typeface="Work Sans SemiBold" panose="020F0502020204030204" pitchFamily="2" charset="0"/>
      <p:regular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1435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2166997"/>
            <a:ext cx="690862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84" dirty="0">
                <a:solidFill>
                  <a:srgbClr val="FFFFFF"/>
                </a:solidFill>
                <a:latin typeface="Work Sans Medium" pitchFamily="34" charset="0"/>
                <a:ea typeface="Work Sans Medium" pitchFamily="34" charset="-122"/>
                <a:cs typeface="Work Sans Medium" pitchFamily="34" charset="0"/>
              </a:rPr>
              <a:t>RELATIONAL DATABASE DESIGN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11182" y="2487908"/>
            <a:ext cx="6299042" cy="94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6800" kern="100" spc="-34" dirty="0">
                <a:solidFill>
                  <a:srgbClr val="FFFFFF"/>
                </a:solidFill>
                <a:latin typeface="Libre Caslon Display" pitchFamily="34" charset="0"/>
                <a:ea typeface="Libre Caslon Display" pitchFamily="34" charset="-122"/>
                <a:cs typeface="Libre Caslon Display" pitchFamily="34" charset="0"/>
              </a:rPr>
              <a:t>MediTrack</a:t>
            </a:r>
            <a:endParaRPr lang="en-US" sz="6800" dirty="0"/>
          </a:p>
        </p:txBody>
      </p:sp>
      <p:sp>
        <p:nvSpPr>
          <p:cNvPr id="4" name="Shape 2"/>
          <p:cNvSpPr/>
          <p:nvPr/>
        </p:nvSpPr>
        <p:spPr>
          <a:xfrm>
            <a:off x="380990" y="-611981"/>
            <a:ext cx="9525" cy="3583285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35351" y="2925663"/>
            <a:ext cx="101597" cy="101600"/>
          </a:xfrm>
          <a:prstGeom prst="ellipse">
            <a:avLst/>
          </a:prstGeom>
          <a:solidFill>
            <a:srgbClr val="F2B1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11182" y="3763268"/>
            <a:ext cx="125608" cy="38100"/>
          </a:xfrm>
          <a:prstGeom prst="roundRect">
            <a:avLst>
              <a:gd name="adj" fmla="val 49999"/>
            </a:avLst>
          </a:prstGeom>
          <a:solidFill>
            <a:srgbClr val="F2B1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11182" y="4028380"/>
            <a:ext cx="6299042" cy="662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0"/>
              </a:rPr>
              <a:t>Hospital patient management, modeled as a connected MySQL database.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738649"/>
            <a:ext cx="5618419" cy="1061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800" kern="100" spc="-19" dirty="0">
                <a:solidFill>
                  <a:srgbClr val="0F4A3F"/>
                </a:solidFill>
                <a:latin typeface="Libre Caslon Display" pitchFamily="34" charset="0"/>
                <a:ea typeface="Libre Caslon Display" pitchFamily="34" charset="-122"/>
                <a:cs typeface="Libre Caslon Display" pitchFamily="34" charset="0"/>
              </a:rPr>
              <a:t>One database for the patient journey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380990" y="-2336800"/>
            <a:ext cx="9525" cy="3347045"/>
          </a:xfrm>
          <a:prstGeom prst="rect">
            <a:avLst/>
          </a:prstGeom>
          <a:solidFill>
            <a:srgbClr val="0F4A3F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35351" y="964605"/>
            <a:ext cx="101597" cy="101600"/>
          </a:xfrm>
          <a:prstGeom prst="ellipse">
            <a:avLst/>
          </a:prstGeom>
          <a:solidFill>
            <a:srgbClr val="F2B1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11182" y="1969691"/>
            <a:ext cx="5618419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50" dirty="0">
                <a:solidFill>
                  <a:srgbClr val="1B201E"/>
                </a:solidFill>
                <a:latin typeface="Work Sans" pitchFamily="34" charset="0"/>
                <a:ea typeface="Work Sans" pitchFamily="34" charset="-122"/>
                <a:cs typeface="Work Sans" pitchFamily="34" charset="0"/>
              </a:rPr>
              <a:t>A relational system keeps clinical and operational context together.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11182" y="3533775"/>
            <a:ext cx="5618419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F4A3F"/>
                </a:solidFill>
                <a:latin typeface="Work Sans Medium" pitchFamily="34" charset="0"/>
                <a:ea typeface="Work Sans Medium" pitchFamily="34" charset="-122"/>
                <a:cs typeface="Work Sans Medium" pitchFamily="34" charset="0"/>
              </a:rPr>
              <a:t>One connected system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11182" y="3998912"/>
            <a:ext cx="5618419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50" dirty="0">
                <a:solidFill>
                  <a:srgbClr val="1B201E"/>
                </a:solidFill>
                <a:latin typeface="Work Sans" pitchFamily="34" charset="0"/>
                <a:ea typeface="Work Sans" pitchFamily="34" charset="-122"/>
                <a:cs typeface="Work Sans" pitchFamily="34" charset="0"/>
              </a:rPr>
              <a:t>Connects patients, doctors, appointments, prescriptions, and billing in one relational system.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11182" y="4933156"/>
            <a:ext cx="5618419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F4A3F"/>
                </a:solidFill>
                <a:latin typeface="Work Sans Medium" pitchFamily="34" charset="0"/>
                <a:ea typeface="Work Sans Medium" pitchFamily="34" charset="-122"/>
                <a:cs typeface="Work Sans Medium" pitchFamily="34" charset="0"/>
              </a:rPr>
              <a:t>One operational view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11182" y="5398294"/>
            <a:ext cx="5618419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50" dirty="0">
                <a:solidFill>
                  <a:srgbClr val="1B201E"/>
                </a:solidFill>
                <a:latin typeface="Work Sans" pitchFamily="34" charset="0"/>
                <a:ea typeface="Work Sans" pitchFamily="34" charset="-122"/>
                <a:cs typeface="Work Sans" pitchFamily="34" charset="0"/>
              </a:rPr>
              <a:t>Supports scheduling, treatment records, payment tracking, and management reporting.</a:t>
            </a:r>
            <a:endParaRPr lang="en-US" sz="15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9055" y="711200"/>
            <a:ext cx="3271458" cy="506799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09055" y="5957153"/>
            <a:ext cx="3881043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230" dirty="0">
                <a:solidFill>
                  <a:srgbClr val="0F4A3F"/>
                </a:solidFill>
                <a:latin typeface="Work Sans Medium" pitchFamily="34" charset="0"/>
                <a:ea typeface="Work Sans Medium" pitchFamily="34" charset="-122"/>
                <a:cs typeface="Work Sans Medium" pitchFamily="34" charset="0"/>
              </a:rPr>
              <a:t>PATIENT JOURNEY · ONE SYSTEM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11182" y="4741069"/>
            <a:ext cx="5618419" cy="12700"/>
          </a:xfrm>
          <a:prstGeom prst="rect">
            <a:avLst/>
          </a:prstGeom>
          <a:solidFill>
            <a:srgbClr val="B7C3C0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738649"/>
            <a:ext cx="10769331" cy="530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800" kern="100" spc="-19" dirty="0">
                <a:solidFill>
                  <a:srgbClr val="0F4A3F"/>
                </a:solidFill>
                <a:latin typeface="Libre Caslon Display" pitchFamily="34" charset="0"/>
                <a:ea typeface="Libre Caslon Display" pitchFamily="34" charset="-122"/>
                <a:cs typeface="Libre Caslon Display" pitchFamily="34" charset="0"/>
              </a:rPr>
              <a:t>The schema is organized around five core tables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380990" y="-2336800"/>
            <a:ext cx="9525" cy="3347045"/>
          </a:xfrm>
          <a:prstGeom prst="rect">
            <a:avLst/>
          </a:prstGeom>
          <a:solidFill>
            <a:srgbClr val="0F4A3F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35351" y="964605"/>
            <a:ext cx="101597" cy="101600"/>
          </a:xfrm>
          <a:prstGeom prst="ellipse">
            <a:avLst/>
          </a:prstGeom>
          <a:solidFill>
            <a:srgbClr val="F2B1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11182" y="1438870"/>
            <a:ext cx="11378915" cy="285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50" dirty="0">
                <a:solidFill>
                  <a:srgbClr val="1B201E"/>
                </a:solidFill>
                <a:latin typeface="Work Sans" pitchFamily="34" charset="0"/>
                <a:ea typeface="Work Sans" pitchFamily="34" charset="-122"/>
                <a:cs typeface="Work Sans" pitchFamily="34" charset="0"/>
              </a:rPr>
              <a:t>Appointments is the operational connector between identity, care, and payment.</a:t>
            </a:r>
            <a:endParaRPr lang="en-US" sz="15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441" y="2209899"/>
            <a:ext cx="8530714" cy="393690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432435" y="2549174"/>
            <a:ext cx="3343787" cy="25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500" kern="100" spc="-8" dirty="0">
                <a:solidFill>
                  <a:srgbClr val="FFFFFF"/>
                </a:solidFill>
                <a:latin typeface="Libre Caslon Display" pitchFamily="34" charset="0"/>
                <a:ea typeface="Libre Caslon Display" pitchFamily="34" charset="-122"/>
                <a:cs typeface="Libre Caslon Display" pitchFamily="34" charset="0"/>
              </a:rPr>
              <a:t>Appointments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188908" y="4501379"/>
            <a:ext cx="1432950" cy="25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500" kern="100" spc="-8" dirty="0">
                <a:solidFill>
                  <a:srgbClr val="1B201E"/>
                </a:solidFill>
                <a:latin typeface="Libre Caslon Display" pitchFamily="34" charset="0"/>
                <a:ea typeface="Libre Caslon Display" pitchFamily="34" charset="-122"/>
                <a:cs typeface="Libre Caslon Display" pitchFamily="34" charset="0"/>
              </a:rPr>
              <a:t>Patients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188908" y="4855404"/>
            <a:ext cx="1432950" cy="496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350" dirty="0">
                <a:solidFill>
                  <a:srgbClr val="1B201E"/>
                </a:solidFill>
                <a:latin typeface="Work Sans" pitchFamily="34" charset="0"/>
                <a:ea typeface="Work Sans" pitchFamily="34" charset="-122"/>
                <a:cs typeface="Work Sans" pitchFamily="34" charset="0"/>
              </a:rPr>
              <a:t>Identity and contact details</a:t>
            </a:r>
            <a:endParaRPr lang="en-US" sz="13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6242" y="3856331"/>
            <a:ext cx="358282" cy="3582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13008" y="4808486"/>
            <a:ext cx="1432950" cy="25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500" kern="100" spc="-8" dirty="0">
                <a:solidFill>
                  <a:srgbClr val="1B201E"/>
                </a:solidFill>
                <a:latin typeface="Libre Caslon Display" pitchFamily="34" charset="0"/>
                <a:ea typeface="Libre Caslon Display" pitchFamily="34" charset="-122"/>
                <a:cs typeface="Libre Caslon Display" pitchFamily="34" charset="0"/>
              </a:rPr>
              <a:t>Doctors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313008" y="5162511"/>
            <a:ext cx="1432950" cy="496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350" dirty="0">
                <a:solidFill>
                  <a:srgbClr val="1B201E"/>
                </a:solidFill>
                <a:latin typeface="Work Sans" pitchFamily="34" charset="0"/>
                <a:ea typeface="Work Sans" pitchFamily="34" charset="-122"/>
                <a:cs typeface="Work Sans" pitchFamily="34" charset="0"/>
              </a:rPr>
              <a:t>Specialties, fees, experience</a:t>
            </a:r>
            <a:endParaRPr lang="en-US" sz="13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0342" y="4120784"/>
            <a:ext cx="358282" cy="35829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54169" y="4791424"/>
            <a:ext cx="1432950" cy="25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500" kern="100" spc="-8" dirty="0">
                <a:solidFill>
                  <a:srgbClr val="1B201E"/>
                </a:solidFill>
                <a:latin typeface="Libre Caslon Display" pitchFamily="34" charset="0"/>
                <a:ea typeface="Libre Caslon Display" pitchFamily="34" charset="-122"/>
                <a:cs typeface="Libre Caslon Display" pitchFamily="34" charset="0"/>
              </a:rPr>
              <a:t>Prescriptions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454169" y="5145449"/>
            <a:ext cx="1432950" cy="496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350" dirty="0">
                <a:solidFill>
                  <a:srgbClr val="1B201E"/>
                </a:solidFill>
                <a:latin typeface="Work Sans" pitchFamily="34" charset="0"/>
                <a:ea typeface="Work Sans" pitchFamily="34" charset="-122"/>
                <a:cs typeface="Work Sans" pitchFamily="34" charset="0"/>
              </a:rPr>
              <a:t>Clinical follow-through</a:t>
            </a:r>
            <a:endParaRPr lang="en-US" sz="13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4442" y="4103722"/>
            <a:ext cx="358282" cy="35829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561207" y="4535502"/>
            <a:ext cx="1432950" cy="25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500" kern="100" spc="-8" dirty="0">
                <a:solidFill>
                  <a:srgbClr val="1B201E"/>
                </a:solidFill>
                <a:latin typeface="Libre Caslon Display" pitchFamily="34" charset="0"/>
                <a:ea typeface="Libre Caslon Display" pitchFamily="34" charset="-122"/>
                <a:cs typeface="Libre Caslon Display" pitchFamily="34" charset="0"/>
              </a:rPr>
              <a:t>Billing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8561207" y="4889528"/>
            <a:ext cx="1432950" cy="4967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350" dirty="0">
                <a:solidFill>
                  <a:srgbClr val="1B201E"/>
                </a:solidFill>
                <a:latin typeface="Work Sans" pitchFamily="34" charset="0"/>
                <a:ea typeface="Work Sans" pitchFamily="34" charset="-122"/>
                <a:cs typeface="Work Sans" pitchFamily="34" charset="0"/>
              </a:rPr>
              <a:t>Payment and invoice records</a:t>
            </a:r>
            <a:endParaRPr lang="en-US" sz="13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07072" y="3864862"/>
            <a:ext cx="358282" cy="3582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0393" y="611649"/>
            <a:ext cx="10670908" cy="530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800" kern="100" spc="-19" dirty="0">
                <a:solidFill>
                  <a:srgbClr val="0F4A3F"/>
                </a:solidFill>
                <a:latin typeface="Libre Caslon Display" pitchFamily="34" charset="0"/>
                <a:ea typeface="Libre Caslon Display" pitchFamily="34" charset="-122"/>
                <a:cs typeface="Libre Caslon Display" pitchFamily="34" charset="0"/>
              </a:rPr>
              <a:t>Relationships keep the data consistent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30202" y="-2463800"/>
            <a:ext cx="9525" cy="3347045"/>
          </a:xfrm>
          <a:prstGeom prst="rect">
            <a:avLst/>
          </a:prstGeom>
          <a:solidFill>
            <a:srgbClr val="0F4A3F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84562" y="837605"/>
            <a:ext cx="101597" cy="101600"/>
          </a:xfrm>
          <a:prstGeom prst="ellipse">
            <a:avLst/>
          </a:prstGeom>
          <a:solidFill>
            <a:srgbClr val="F2B1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60393" y="1311870"/>
            <a:ext cx="11280493" cy="285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50" dirty="0">
                <a:solidFill>
                  <a:srgbClr val="1B201E"/>
                </a:solidFill>
                <a:latin typeface="Work Sans" pitchFamily="34" charset="0"/>
                <a:ea typeface="Work Sans" pitchFamily="34" charset="-122"/>
                <a:cs typeface="Work Sans" pitchFamily="34" charset="0"/>
              </a:rPr>
              <a:t>Primary and foreign keys make the patient journey traceable.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378115" y="3175000"/>
            <a:ext cx="2082748" cy="25400"/>
          </a:xfrm>
          <a:prstGeom prst="line">
            <a:avLst/>
          </a:prstGeom>
          <a:solidFill>
            <a:srgbClr val="0F4A3F"/>
          </a:solidFill>
          <a:ln w="25400">
            <a:solidFill>
              <a:srgbClr val="0F4A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813580" y="3175000"/>
            <a:ext cx="2082748" cy="25400"/>
          </a:xfrm>
          <a:prstGeom prst="line">
            <a:avLst/>
          </a:prstGeom>
          <a:solidFill>
            <a:srgbClr val="0F4A3F"/>
          </a:solidFill>
          <a:ln w="25400">
            <a:solidFill>
              <a:srgbClr val="0F4A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095848" y="3759200"/>
            <a:ext cx="25399" cy="1117600"/>
          </a:xfrm>
          <a:prstGeom prst="line">
            <a:avLst/>
          </a:prstGeom>
          <a:solidFill>
            <a:srgbClr val="0F4A3F"/>
          </a:solidFill>
          <a:ln w="25400">
            <a:solidFill>
              <a:srgbClr val="0F4A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95848" y="4876800"/>
            <a:ext cx="25399" cy="965200"/>
          </a:xfrm>
          <a:prstGeom prst="line">
            <a:avLst/>
          </a:prstGeom>
          <a:solidFill>
            <a:srgbClr val="0F4A3F"/>
          </a:solidFill>
          <a:ln w="25400">
            <a:solidFill>
              <a:srgbClr val="0F4A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14377" y="2413000"/>
            <a:ext cx="2463738" cy="1473200"/>
          </a:xfrm>
          <a:prstGeom prst="roundRect">
            <a:avLst>
              <a:gd name="adj" fmla="val 2004"/>
            </a:avLst>
          </a:prstGeom>
          <a:solidFill>
            <a:srgbClr val="DCE9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168371" y="2641759"/>
            <a:ext cx="2565336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84" dirty="0">
                <a:solidFill>
                  <a:srgbClr val="0F4A3F"/>
                </a:solidFill>
                <a:latin typeface="Work Sans Medium" pitchFamily="34" charset="0"/>
                <a:ea typeface="Work Sans Medium" pitchFamily="34" charset="-122"/>
                <a:cs typeface="Work Sans Medium" pitchFamily="34" charset="0"/>
              </a:rPr>
              <a:t>TABLE · PK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168371" y="2918718"/>
            <a:ext cx="195575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Work Sans Medium" pitchFamily="34" charset="0"/>
                <a:ea typeface="Work Sans Medium" pitchFamily="34" charset="-122"/>
                <a:cs typeface="Work Sans Medium" pitchFamily="34" charset="0"/>
              </a:rPr>
              <a:t>Patients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68371" y="3383855"/>
            <a:ext cx="1955751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0"/>
              </a:rPr>
              <a:t>1 patient can book many appointments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813580" y="2413000"/>
            <a:ext cx="2463738" cy="1473200"/>
          </a:xfrm>
          <a:prstGeom prst="roundRect">
            <a:avLst>
              <a:gd name="adj" fmla="val 2004"/>
            </a:avLst>
          </a:prstGeom>
          <a:solidFill>
            <a:srgbClr val="E6E1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067573" y="2641759"/>
            <a:ext cx="2565336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84" dirty="0">
                <a:solidFill>
                  <a:srgbClr val="0F4A3F"/>
                </a:solidFill>
                <a:latin typeface="Work Sans Medium" pitchFamily="34" charset="0"/>
                <a:ea typeface="Work Sans Medium" pitchFamily="34" charset="-122"/>
                <a:cs typeface="Work Sans Medium" pitchFamily="34" charset="0"/>
              </a:rPr>
              <a:t>TABLE · PK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067573" y="2918718"/>
            <a:ext cx="195575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Work Sans Medium" pitchFamily="34" charset="0"/>
                <a:ea typeface="Work Sans Medium" pitchFamily="34" charset="-122"/>
                <a:cs typeface="Work Sans Medium" pitchFamily="34" charset="0"/>
              </a:rPr>
              <a:t>Doctors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067573" y="3383855"/>
            <a:ext cx="1955751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0"/>
              </a:rPr>
              <a:t>1 doctor can attend many appointments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4800480" y="2819400"/>
            <a:ext cx="2590735" cy="2004715"/>
          </a:xfrm>
          <a:prstGeom prst="roundRect">
            <a:avLst>
              <a:gd name="adj" fmla="val 1473"/>
            </a:avLst>
          </a:prstGeom>
          <a:solidFill>
            <a:srgbClr val="F2B1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054474" y="3022759"/>
            <a:ext cx="2692333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84" dirty="0">
                <a:solidFill>
                  <a:srgbClr val="0F4A3F"/>
                </a:solidFill>
                <a:latin typeface="Work Sans Medium" pitchFamily="34" charset="0"/>
                <a:ea typeface="Work Sans Medium" pitchFamily="34" charset="-122"/>
                <a:cs typeface="Work Sans Medium" pitchFamily="34" charset="0"/>
              </a:rPr>
              <a:t>CENTRAL TABLE · FK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54474" y="3299718"/>
            <a:ext cx="208274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Work Sans Medium" pitchFamily="34" charset="0"/>
                <a:ea typeface="Work Sans Medium" pitchFamily="34" charset="-122"/>
                <a:cs typeface="Work Sans Medium" pitchFamily="34" charset="0"/>
              </a:rPr>
              <a:t>Appointments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054474" y="3764855"/>
            <a:ext cx="2082748" cy="856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0"/>
              </a:rPr>
              <a:t>Operational link between patients and doctors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4368691" y="4876800"/>
            <a:ext cx="3454314" cy="1604665"/>
          </a:xfrm>
          <a:prstGeom prst="roundRect">
            <a:avLst>
              <a:gd name="adj" fmla="val 1840"/>
            </a:avLst>
          </a:prstGeom>
          <a:solidFill>
            <a:srgbClr val="FBFAF6"/>
          </a:solidFill>
          <a:ln w="12700">
            <a:solidFill>
              <a:srgbClr val="B7C3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35384" y="5067459"/>
            <a:ext cx="3530512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84" dirty="0">
                <a:solidFill>
                  <a:srgbClr val="0F4A3F"/>
                </a:solidFill>
                <a:latin typeface="Work Sans Medium" pitchFamily="34" charset="0"/>
                <a:ea typeface="Work Sans Medium" pitchFamily="34" charset="-122"/>
                <a:cs typeface="Work Sans Medium" pitchFamily="34" charset="0"/>
              </a:rPr>
              <a:t>DOWNSTREAM RECORDS · FK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635384" y="5434905"/>
            <a:ext cx="2920927" cy="856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50" b="1" dirty="0">
                <a:solidFill>
                  <a:srgbClr val="1B201E"/>
                </a:solidFill>
                <a:latin typeface="Work Sans Bold" pitchFamily="34" charset="0"/>
                <a:ea typeface="Work Sans Bold" pitchFamily="34" charset="-122"/>
                <a:cs typeface="Work Sans Bold" pitchFamily="34" charset="0"/>
              </a:rPr>
              <a:t>Appointments → Prescriptions:</a:t>
            </a:r>
            <a:r>
              <a:rPr lang="en-US" sz="1550" dirty="0">
                <a:solidFill>
                  <a:srgbClr val="1B201E"/>
                </a:solidFill>
                <a:latin typeface="Work Sans" pitchFamily="34" charset="0"/>
                <a:ea typeface="Work Sans" pitchFamily="34" charset="-122"/>
                <a:cs typeface="Work Sans" pitchFamily="34" charset="0"/>
              </a:rPr>
              <a:t> one visit can produce multiple medicines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8254793" y="4876800"/>
            <a:ext cx="3022524" cy="1604665"/>
          </a:xfrm>
          <a:prstGeom prst="roundRect">
            <a:avLst>
              <a:gd name="adj" fmla="val 1840"/>
            </a:avLst>
          </a:prstGeom>
          <a:solidFill>
            <a:srgbClr val="FBFAF6"/>
          </a:solidFill>
          <a:ln w="12700">
            <a:solidFill>
              <a:srgbClr val="B7C3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521487" y="5067459"/>
            <a:ext cx="3098722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84" dirty="0">
                <a:solidFill>
                  <a:srgbClr val="0F4A3F"/>
                </a:solidFill>
                <a:latin typeface="Work Sans Medium" pitchFamily="34" charset="0"/>
                <a:ea typeface="Work Sans Medium" pitchFamily="34" charset="-122"/>
                <a:cs typeface="Work Sans Medium" pitchFamily="34" charset="0"/>
              </a:rPr>
              <a:t>DESIGN INTENT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521487" y="5434905"/>
            <a:ext cx="2489138" cy="856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50" b="1" dirty="0">
                <a:solidFill>
                  <a:srgbClr val="1B201E"/>
                </a:solidFill>
                <a:latin typeface="Work Sans Bold" pitchFamily="34" charset="0"/>
                <a:ea typeface="Work Sans Bold" pitchFamily="34" charset="-122"/>
                <a:cs typeface="Work Sans Bold" pitchFamily="34" charset="0"/>
              </a:rPr>
              <a:t>Appointments → Billing:</a:t>
            </a:r>
            <a:r>
              <a:rPr lang="en-US" sz="1550" dirty="0">
                <a:solidFill>
                  <a:srgbClr val="1B201E"/>
                </a:solidFill>
                <a:latin typeface="Work Sans" pitchFamily="34" charset="0"/>
                <a:ea typeface="Work Sans" pitchFamily="34" charset="-122"/>
                <a:cs typeface="Work Sans" pitchFamily="34" charset="0"/>
              </a:rPr>
              <a:t> intended as one bill per appointment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760393" y="6173153"/>
            <a:ext cx="7013400" cy="313630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kern="100" spc="12" dirty="0">
                <a:solidFill>
                  <a:srgbClr val="4E5753"/>
                </a:solidFill>
                <a:latin typeface="Work Sans" pitchFamily="34" charset="0"/>
                <a:ea typeface="Work Sans" pitchFamily="34" charset="-122"/>
                <a:cs typeface="Work Sans" pitchFamily="34" charset="0"/>
              </a:rPr>
              <a:t>The one-bill rule is design intent, not enforced by a UNIQUE key.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738649"/>
            <a:ext cx="3047924" cy="2123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800" kern="100" spc="-19" dirty="0">
                <a:solidFill>
                  <a:srgbClr val="0F4A3F"/>
                </a:solidFill>
                <a:latin typeface="Libre Caslon Display" pitchFamily="34" charset="0"/>
                <a:ea typeface="Libre Caslon Display" pitchFamily="34" charset="-122"/>
                <a:cs typeface="Libre Caslon Display" pitchFamily="34" charset="0"/>
              </a:rPr>
              <a:t>Normalization reduces duplication as the system grows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380990" y="-2336800"/>
            <a:ext cx="9525" cy="3347045"/>
          </a:xfrm>
          <a:prstGeom prst="rect">
            <a:avLst/>
          </a:prstGeom>
          <a:solidFill>
            <a:srgbClr val="0F4A3F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35351" y="964605"/>
            <a:ext cx="101597" cy="101600"/>
          </a:xfrm>
          <a:prstGeom prst="ellipse">
            <a:avLst/>
          </a:prstGeom>
          <a:solidFill>
            <a:srgbClr val="F2B1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11182" y="3031331"/>
            <a:ext cx="3047924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50" dirty="0">
                <a:solidFill>
                  <a:srgbClr val="1B201E"/>
                </a:solidFill>
                <a:latin typeface="Work Sans" pitchFamily="34" charset="0"/>
                <a:ea typeface="Work Sans" pitchFamily="34" charset="-122"/>
                <a:cs typeface="Work Sans" pitchFamily="34" charset="0"/>
              </a:rPr>
              <a:t>Store facts once. Reference them where they are needed.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11182" y="5736392"/>
            <a:ext cx="3047924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kern="100" spc="12" dirty="0">
                <a:solidFill>
                  <a:srgbClr val="4E5753"/>
                </a:solidFill>
                <a:latin typeface="Work Sans" pitchFamily="34" charset="0"/>
                <a:ea typeface="Work Sans" pitchFamily="34" charset="-122"/>
                <a:cs typeface="Work Sans" pitchFamily="34" charset="0"/>
              </a:rPr>
              <a:t>A normalized design keeps updates local and reporting dependable.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70288" y="0"/>
            <a:ext cx="3708307" cy="3276600"/>
          </a:xfrm>
          <a:prstGeom prst="roundRect">
            <a:avLst>
              <a:gd name="adj" fmla="val 1395"/>
            </a:avLst>
          </a:prstGeom>
          <a:solidFill>
            <a:srgbClr val="E6E1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181470" y="674251"/>
            <a:ext cx="289552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84" dirty="0">
                <a:solidFill>
                  <a:srgbClr val="000000"/>
                </a:solidFill>
                <a:latin typeface="Work Sans Medium" pitchFamily="34" charset="0"/>
                <a:ea typeface="Work Sans Medium" pitchFamily="34" charset="-122"/>
                <a:cs typeface="Work Sans Medium" pitchFamily="34" charset="0"/>
              </a:rPr>
              <a:t>REPEATED DATA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181470" y="951210"/>
            <a:ext cx="2285943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Work Sans Medium" pitchFamily="34" charset="0"/>
                <a:ea typeface="Work Sans Medium" pitchFamily="34" charset="-122"/>
                <a:cs typeface="Work Sans Medium" pitchFamily="34" charset="0"/>
              </a:rPr>
              <a:t>Appointment records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181470" y="1746548"/>
            <a:ext cx="2285943" cy="856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0"/>
              </a:rPr>
              <a:t>Patient and doctor details appear again and again.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194570" y="674251"/>
            <a:ext cx="289552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84" dirty="0">
                <a:solidFill>
                  <a:srgbClr val="0F4A3F"/>
                </a:solidFill>
                <a:latin typeface="Work Sans Medium" pitchFamily="34" charset="0"/>
                <a:ea typeface="Work Sans Medium" pitchFamily="34" charset="-122"/>
                <a:cs typeface="Work Sans Medium" pitchFamily="34" charset="0"/>
              </a:rPr>
              <a:t>NORMALIZED DESIGN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94570" y="951210"/>
            <a:ext cx="2285943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F4A3F"/>
                </a:solidFill>
                <a:latin typeface="Work Sans Medium" pitchFamily="34" charset="0"/>
                <a:ea typeface="Work Sans Medium" pitchFamily="34" charset="-122"/>
                <a:cs typeface="Work Sans Medium" pitchFamily="34" charset="0"/>
              </a:rPr>
              <a:t>Reference the source tables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194570" y="1746548"/>
            <a:ext cx="2285943" cy="856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50" dirty="0">
                <a:solidFill>
                  <a:srgbClr val="1B201E"/>
                </a:solidFill>
                <a:latin typeface="Work Sans" pitchFamily="34" charset="0"/>
                <a:ea typeface="Work Sans" pitchFamily="34" charset="-122"/>
                <a:cs typeface="Work Sans" pitchFamily="34" charset="0"/>
              </a:rPr>
              <a:t>Primary keys identify records; foreign keys connect related tables.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4470288" y="3581400"/>
            <a:ext cx="7721407" cy="3276600"/>
          </a:xfrm>
          <a:prstGeom prst="roundRect">
            <a:avLst>
              <a:gd name="adj" fmla="val 1395"/>
            </a:avLst>
          </a:prstGeom>
          <a:solidFill>
            <a:srgbClr val="FBFAF6"/>
          </a:solidFill>
          <a:ln w="12700">
            <a:solidFill>
              <a:srgbClr val="B7C3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194170" y="4705747"/>
            <a:ext cx="6273643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1B201E"/>
                </a:solidFill>
                <a:latin typeface="Work Sans Medium" pitchFamily="34" charset="0"/>
                <a:ea typeface="Work Sans Medium" pitchFamily="34" charset="-122"/>
                <a:cs typeface="Work Sans Medium" pitchFamily="34" charset="0"/>
              </a:rPr>
              <a:t>Result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194170" y="5170884"/>
            <a:ext cx="6273643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50" dirty="0">
                <a:solidFill>
                  <a:srgbClr val="1B201E"/>
                </a:solidFill>
                <a:latin typeface="Work Sans" pitchFamily="34" charset="0"/>
                <a:ea typeface="Work Sans" pitchFamily="34" charset="-122"/>
                <a:cs typeface="Work Sans" pitchFamily="34" charset="0"/>
              </a:rPr>
              <a:t>Apply normalization to simplify updates and protect reporting accuracy.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738649"/>
            <a:ext cx="10769331" cy="530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800" kern="100" spc="-19" dirty="0">
                <a:solidFill>
                  <a:srgbClr val="0F4A3F"/>
                </a:solidFill>
                <a:latin typeface="Libre Caslon Display" pitchFamily="34" charset="0"/>
                <a:ea typeface="Libre Caslon Display" pitchFamily="34" charset="-122"/>
                <a:cs typeface="Libre Caslon Display" pitchFamily="34" charset="0"/>
              </a:rPr>
              <a:t>SQL turns the schema into operational answers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380990" y="-2336800"/>
            <a:ext cx="9525" cy="3347045"/>
          </a:xfrm>
          <a:prstGeom prst="rect">
            <a:avLst/>
          </a:prstGeom>
          <a:solidFill>
            <a:srgbClr val="0F4A3F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35351" y="964605"/>
            <a:ext cx="101597" cy="101600"/>
          </a:xfrm>
          <a:prstGeom prst="ellipse">
            <a:avLst/>
          </a:prstGeom>
          <a:solidFill>
            <a:srgbClr val="F2B1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11182" y="1438870"/>
            <a:ext cx="11378915" cy="285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50" dirty="0">
                <a:solidFill>
                  <a:srgbClr val="1B201E"/>
                </a:solidFill>
                <a:latin typeface="Work Sans" pitchFamily="34" charset="0"/>
                <a:ea typeface="Work Sans" pitchFamily="34" charset="-122"/>
                <a:cs typeface="Work Sans" pitchFamily="34" charset="0"/>
              </a:rPr>
              <a:t>Start with a question, then choose the query pattern that matches it.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11182" y="1902023"/>
            <a:ext cx="816748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50" dirty="0">
                <a:solidFill>
                  <a:srgbClr val="0F4A3F"/>
                </a:solidFill>
                <a:latin typeface="Work Sans SemiBold" pitchFamily="34" charset="0"/>
                <a:ea typeface="Work Sans SemiBold" pitchFamily="34" charset="-122"/>
                <a:cs typeface="Work Sans SemiBold" pitchFamily="34" charset="0"/>
              </a:rPr>
              <a:t>01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11182" y="2177653"/>
            <a:ext cx="2463738" cy="19050"/>
          </a:xfrm>
          <a:prstGeom prst="rect">
            <a:avLst/>
          </a:prstGeom>
          <a:solidFill>
            <a:srgbClr val="0F4A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11182" y="3410942"/>
            <a:ext cx="246373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F4A3F"/>
                </a:solidFill>
                <a:latin typeface="Work Sans Medium" pitchFamily="34" charset="0"/>
                <a:ea typeface="Work Sans Medium" pitchFamily="34" charset="-122"/>
                <a:cs typeface="Work Sans Medium" pitchFamily="34" charset="0"/>
              </a:rPr>
              <a:t>Filter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11182" y="3876080"/>
            <a:ext cx="2463738" cy="856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50" dirty="0">
                <a:solidFill>
                  <a:srgbClr val="1B201E"/>
                </a:solidFill>
                <a:latin typeface="Work Sans" pitchFamily="34" charset="0"/>
                <a:ea typeface="Work Sans" pitchFamily="34" charset="-122"/>
                <a:cs typeface="Work Sans" pitchFamily="34" charset="0"/>
              </a:rPr>
              <a:t>Find appointments after a date or payments by method.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11182" y="4847392"/>
            <a:ext cx="2463738" cy="212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kern="100" spc="12" dirty="0">
                <a:solidFill>
                  <a:srgbClr val="1B201E"/>
                </a:solidFill>
                <a:highlight>
                  <a:srgbClr val="FBFAF6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WHERE date &gt; ...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9713" y="1902023"/>
            <a:ext cx="851176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50" dirty="0">
                <a:solidFill>
                  <a:srgbClr val="0F4A3F"/>
                </a:solidFill>
                <a:latin typeface="Work Sans SemiBold" pitchFamily="34" charset="0"/>
                <a:ea typeface="Work Sans SemiBold" pitchFamily="34" charset="-122"/>
                <a:cs typeface="Work Sans SemiBold" pitchFamily="34" charset="0"/>
              </a:rPr>
              <a:t>02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3479713" y="2177653"/>
            <a:ext cx="2463738" cy="19050"/>
          </a:xfrm>
          <a:prstGeom prst="rect">
            <a:avLst/>
          </a:prstGeom>
          <a:solidFill>
            <a:srgbClr val="0F4A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79713" y="3410942"/>
            <a:ext cx="246373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F4A3F"/>
                </a:solidFill>
                <a:latin typeface="Work Sans Medium" pitchFamily="34" charset="0"/>
                <a:ea typeface="Work Sans Medium" pitchFamily="34" charset="-122"/>
                <a:cs typeface="Work Sans Medium" pitchFamily="34" charset="0"/>
              </a:rPr>
              <a:t>Join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79713" y="3876080"/>
            <a:ext cx="2463738" cy="856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50" dirty="0">
                <a:solidFill>
                  <a:srgbClr val="1B201E"/>
                </a:solidFill>
                <a:latin typeface="Work Sans" pitchFamily="34" charset="0"/>
                <a:ea typeface="Work Sans" pitchFamily="34" charset="-122"/>
                <a:cs typeface="Work Sans" pitchFamily="34" charset="0"/>
              </a:rPr>
              <a:t>Trace medicines from a patient through an appointment.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479713" y="4847392"/>
            <a:ext cx="2463738" cy="212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kern="100" spc="12" dirty="0">
                <a:solidFill>
                  <a:srgbClr val="1B201E"/>
                </a:solidFill>
                <a:highlight>
                  <a:srgbClr val="FBFAF6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JOIN prescriptions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48244" y="1902023"/>
            <a:ext cx="848398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50" dirty="0">
                <a:solidFill>
                  <a:srgbClr val="0F4A3F"/>
                </a:solidFill>
                <a:latin typeface="Work Sans SemiBold" pitchFamily="34" charset="0"/>
                <a:ea typeface="Work Sans SemiBold" pitchFamily="34" charset="-122"/>
                <a:cs typeface="Work Sans SemiBold" pitchFamily="34" charset="0"/>
              </a:rPr>
              <a:t>03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248244" y="2177653"/>
            <a:ext cx="2463738" cy="19050"/>
          </a:xfrm>
          <a:prstGeom prst="rect">
            <a:avLst/>
          </a:prstGeom>
          <a:solidFill>
            <a:srgbClr val="0F4A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248244" y="3410942"/>
            <a:ext cx="246373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F4A3F"/>
                </a:solidFill>
                <a:latin typeface="Work Sans Medium" pitchFamily="34" charset="0"/>
                <a:ea typeface="Work Sans Medium" pitchFamily="34" charset="-122"/>
                <a:cs typeface="Work Sans Medium" pitchFamily="34" charset="0"/>
              </a:rPr>
              <a:t>Group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48244" y="3876080"/>
            <a:ext cx="2463738" cy="856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50" dirty="0">
                <a:solidFill>
                  <a:srgbClr val="1B201E"/>
                </a:solidFill>
                <a:latin typeface="Work Sans" pitchFamily="34" charset="0"/>
                <a:ea typeface="Work Sans" pitchFamily="34" charset="-122"/>
                <a:cs typeface="Work Sans" pitchFamily="34" charset="0"/>
              </a:rPr>
              <a:t>Compare revenue by payment method or specialization.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248244" y="4847392"/>
            <a:ext cx="2463738" cy="212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kern="100" spc="12" dirty="0">
                <a:solidFill>
                  <a:srgbClr val="1B201E"/>
                </a:solidFill>
                <a:highlight>
                  <a:srgbClr val="FBFAF6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GROUP BY method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016774" y="1902023"/>
            <a:ext cx="859411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50" dirty="0">
                <a:solidFill>
                  <a:srgbClr val="0F4A3F"/>
                </a:solidFill>
                <a:latin typeface="Work Sans SemiBold" pitchFamily="34" charset="0"/>
                <a:ea typeface="Work Sans SemiBold" pitchFamily="34" charset="-122"/>
                <a:cs typeface="Work Sans SemiBold" pitchFamily="34" charset="0"/>
              </a:rPr>
              <a:t>04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9016774" y="2177653"/>
            <a:ext cx="2463738" cy="19050"/>
          </a:xfrm>
          <a:prstGeom prst="rect">
            <a:avLst/>
          </a:prstGeom>
          <a:solidFill>
            <a:srgbClr val="0F4A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9016774" y="3410942"/>
            <a:ext cx="246373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F4A3F"/>
                </a:solidFill>
                <a:latin typeface="Work Sans Medium" pitchFamily="34" charset="0"/>
                <a:ea typeface="Work Sans Medium" pitchFamily="34" charset="-122"/>
                <a:cs typeface="Work Sans Medium" pitchFamily="34" charset="0"/>
              </a:rPr>
              <a:t>Extend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016774" y="3876080"/>
            <a:ext cx="2463738" cy="856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50" dirty="0">
                <a:solidFill>
                  <a:srgbClr val="1B201E"/>
                </a:solidFill>
                <a:latin typeface="Work Sans" pitchFamily="34" charset="0"/>
                <a:ea typeface="Work Sans" pitchFamily="34" charset="-122"/>
                <a:cs typeface="Work Sans" pitchFamily="34" charset="0"/>
              </a:rPr>
              <a:t>Surface above-average bills and cumulative revenue.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9016774" y="4847392"/>
            <a:ext cx="2463738" cy="212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kern="100" spc="12" dirty="0">
                <a:solidFill>
                  <a:srgbClr val="1B201E"/>
                </a:solidFill>
                <a:highlight>
                  <a:srgbClr val="FBFAF6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OVER (...)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738649"/>
            <a:ext cx="6009529" cy="1061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800" kern="100" spc="-19" dirty="0">
                <a:solidFill>
                  <a:srgbClr val="0F4A3F"/>
                </a:solidFill>
                <a:latin typeface="Libre Caslon Display" pitchFamily="34" charset="0"/>
                <a:ea typeface="Libre Caslon Display" pitchFamily="34" charset="-122"/>
                <a:cs typeface="Libre Caslon Display" pitchFamily="34" charset="0"/>
              </a:rPr>
              <a:t>The sample dataset supports realistic analysis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380990" y="-2336800"/>
            <a:ext cx="9525" cy="3347045"/>
          </a:xfrm>
          <a:prstGeom prst="rect">
            <a:avLst/>
          </a:prstGeom>
          <a:solidFill>
            <a:srgbClr val="0F4A3F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35351" y="964605"/>
            <a:ext cx="101597" cy="101600"/>
          </a:xfrm>
          <a:prstGeom prst="ellipse">
            <a:avLst/>
          </a:prstGeom>
          <a:solidFill>
            <a:srgbClr val="F2B1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11182" y="1969691"/>
            <a:ext cx="2852368" cy="1617266"/>
          </a:xfrm>
          <a:prstGeom prst="roundRect">
            <a:avLst>
              <a:gd name="adj" fmla="val 2827"/>
            </a:avLst>
          </a:prstGeom>
          <a:solidFill>
            <a:srgbClr val="E6E1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39776" y="2262108"/>
            <a:ext cx="2395180" cy="773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5800" kern="100" spc="-58" dirty="0">
                <a:solidFill>
                  <a:srgbClr val="000000"/>
                </a:solidFill>
                <a:latin typeface="Libre Caslon Display" pitchFamily="34" charset="0"/>
                <a:ea typeface="Libre Caslon Display" pitchFamily="34" charset="-122"/>
                <a:cs typeface="Libre Caslon Display" pitchFamily="34" charset="0"/>
              </a:rPr>
              <a:t>20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939776" y="3168710"/>
            <a:ext cx="2623774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84" dirty="0">
                <a:solidFill>
                  <a:srgbClr val="000000"/>
                </a:solidFill>
                <a:latin typeface="Work Sans Medium" pitchFamily="34" charset="0"/>
                <a:ea typeface="Work Sans Medium" pitchFamily="34" charset="-122"/>
                <a:cs typeface="Work Sans Medium" pitchFamily="34" charset="0"/>
              </a:rPr>
              <a:t>PATIENTS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868343" y="1969691"/>
            <a:ext cx="2852368" cy="1617266"/>
          </a:xfrm>
          <a:prstGeom prst="roundRect">
            <a:avLst>
              <a:gd name="adj" fmla="val 2827"/>
            </a:avLst>
          </a:prstGeom>
          <a:solidFill>
            <a:srgbClr val="DCE9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096937" y="2262108"/>
            <a:ext cx="2395180" cy="773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5800" kern="100" spc="-58" dirty="0">
                <a:solidFill>
                  <a:srgbClr val="000000"/>
                </a:solidFill>
                <a:latin typeface="Libre Caslon Display" pitchFamily="34" charset="0"/>
                <a:ea typeface="Libre Caslon Display" pitchFamily="34" charset="-122"/>
                <a:cs typeface="Libre Caslon Display" pitchFamily="34" charset="0"/>
              </a:rPr>
              <a:t>15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4096937" y="3168710"/>
            <a:ext cx="2623774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84" dirty="0">
                <a:solidFill>
                  <a:srgbClr val="000000"/>
                </a:solidFill>
                <a:latin typeface="Work Sans Medium" pitchFamily="34" charset="0"/>
                <a:ea typeface="Work Sans Medium" pitchFamily="34" charset="-122"/>
                <a:cs typeface="Work Sans Medium" pitchFamily="34" charset="0"/>
              </a:rPr>
              <a:t>DOCTORS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11182" y="3891756"/>
            <a:ext cx="2852368" cy="1832471"/>
          </a:xfrm>
          <a:prstGeom prst="roundRect">
            <a:avLst>
              <a:gd name="adj" fmla="val 2495"/>
            </a:avLst>
          </a:prstGeom>
          <a:solidFill>
            <a:srgbClr val="FBFAF6"/>
          </a:solidFill>
          <a:ln w="12700">
            <a:solidFill>
              <a:srgbClr val="B7C3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52476" y="4196874"/>
            <a:ext cx="2369781" cy="773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5800" kern="100" spc="-58" dirty="0">
                <a:solidFill>
                  <a:srgbClr val="1B201E"/>
                </a:solidFill>
                <a:latin typeface="Libre Caslon Display" pitchFamily="34" charset="0"/>
                <a:ea typeface="Libre Caslon Display" pitchFamily="34" charset="-122"/>
                <a:cs typeface="Libre Caslon Display" pitchFamily="34" charset="0"/>
              </a:rPr>
              <a:t>10</a:t>
            </a:r>
            <a:endParaRPr lang="en-US" sz="5800" dirty="0"/>
          </a:p>
        </p:txBody>
      </p:sp>
      <p:sp>
        <p:nvSpPr>
          <p:cNvPr id="13" name="Text 11"/>
          <p:cNvSpPr/>
          <p:nvPr/>
        </p:nvSpPr>
        <p:spPr>
          <a:xfrm>
            <a:off x="952476" y="5103475"/>
            <a:ext cx="2369781" cy="379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84" dirty="0">
                <a:solidFill>
                  <a:srgbClr val="1B201E"/>
                </a:solidFill>
                <a:latin typeface="Work Sans Medium" pitchFamily="34" charset="0"/>
                <a:ea typeface="Work Sans Medium" pitchFamily="34" charset="-122"/>
                <a:cs typeface="Work Sans Medium" pitchFamily="34" charset="0"/>
              </a:rPr>
              <a:t>COMPLETED APPOINTMENTS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868343" y="3891756"/>
            <a:ext cx="2852368" cy="1832471"/>
          </a:xfrm>
          <a:prstGeom prst="roundRect">
            <a:avLst>
              <a:gd name="adj" fmla="val 2495"/>
            </a:avLst>
          </a:prstGeom>
          <a:solidFill>
            <a:srgbClr val="FBFAF6"/>
          </a:solidFill>
          <a:ln w="12700">
            <a:solidFill>
              <a:srgbClr val="B7C3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109637" y="4196874"/>
            <a:ext cx="2369781" cy="773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5800" kern="100" spc="-58" dirty="0">
                <a:solidFill>
                  <a:srgbClr val="1B201E"/>
                </a:solidFill>
                <a:latin typeface="Libre Caslon Display" pitchFamily="34" charset="0"/>
                <a:ea typeface="Libre Caslon Display" pitchFamily="34" charset="-122"/>
                <a:cs typeface="Libre Caslon Display" pitchFamily="34" charset="0"/>
              </a:rPr>
              <a:t>13</a:t>
            </a:r>
            <a:endParaRPr lang="en-US" sz="5800" dirty="0"/>
          </a:p>
        </p:txBody>
      </p:sp>
      <p:sp>
        <p:nvSpPr>
          <p:cNvPr id="16" name="Text 14"/>
          <p:cNvSpPr/>
          <p:nvPr/>
        </p:nvSpPr>
        <p:spPr>
          <a:xfrm>
            <a:off x="4109637" y="5103475"/>
            <a:ext cx="2611075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84" dirty="0">
                <a:solidFill>
                  <a:srgbClr val="1B201E"/>
                </a:solidFill>
                <a:latin typeface="Work Sans Medium" pitchFamily="34" charset="0"/>
                <a:ea typeface="Work Sans Medium" pitchFamily="34" charset="-122"/>
                <a:cs typeface="Work Sans Medium" pitchFamily="34" charset="0"/>
              </a:rPr>
              <a:t>PRESCRIPTION RECORDS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11182" y="5902980"/>
            <a:ext cx="6009529" cy="313630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kern="100" spc="12" dirty="0">
                <a:solidFill>
                  <a:srgbClr val="4E5753"/>
                </a:solidFill>
                <a:latin typeface="Work Sans" pitchFamily="34" charset="0"/>
                <a:ea typeface="Work Sans" pitchFamily="34" charset="-122"/>
                <a:cs typeface="Work Sans" pitchFamily="34" charset="0"/>
              </a:rPr>
              <a:t>Billing records total $6,800. Average billing amount: $680.</a:t>
            </a:r>
            <a:endParaRPr lang="en-US" sz="12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0165" y="2158107"/>
            <a:ext cx="2880347" cy="205313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600165" y="4389199"/>
            <a:ext cx="2880347" cy="379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230" dirty="0">
                <a:solidFill>
                  <a:srgbClr val="0F4A3F"/>
                </a:solidFill>
                <a:latin typeface="Work Sans Medium" pitchFamily="34" charset="0"/>
                <a:ea typeface="Work Sans Medium" pitchFamily="34" charset="-122"/>
                <a:cs typeface="Work Sans Medium" pitchFamily="34" charset="0"/>
              </a:rPr>
              <a:t>REVENUE BY PAYMENT METHOD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738649"/>
            <a:ext cx="10769331" cy="530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800" kern="100" spc="-19" dirty="0">
                <a:solidFill>
                  <a:srgbClr val="0F4A3F"/>
                </a:solidFill>
                <a:latin typeface="Libre Caslon Display" pitchFamily="34" charset="0"/>
                <a:ea typeface="Libre Caslon Display" pitchFamily="34" charset="-122"/>
                <a:cs typeface="Libre Caslon Display" pitchFamily="34" charset="0"/>
              </a:rPr>
              <a:t>Queries reveal patterns beyond simple lookups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380990" y="-2336800"/>
            <a:ext cx="9525" cy="3347045"/>
          </a:xfrm>
          <a:prstGeom prst="rect">
            <a:avLst/>
          </a:prstGeom>
          <a:solidFill>
            <a:srgbClr val="0F4A3F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35351" y="964605"/>
            <a:ext cx="101597" cy="101600"/>
          </a:xfrm>
          <a:prstGeom prst="ellipse">
            <a:avLst/>
          </a:prstGeom>
          <a:solidFill>
            <a:srgbClr val="F2B1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11182" y="1438870"/>
            <a:ext cx="11378915" cy="285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50" dirty="0">
                <a:solidFill>
                  <a:srgbClr val="1B201E"/>
                </a:solidFill>
                <a:latin typeface="Work Sans" pitchFamily="34" charset="0"/>
                <a:ea typeface="Work Sans" pitchFamily="34" charset="-122"/>
                <a:cs typeface="Work Sans" pitchFamily="34" charset="0"/>
              </a:rPr>
              <a:t>The same records support comparisons, rankings, and multi-row findings.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11182" y="1902023"/>
            <a:ext cx="816748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50" dirty="0">
                <a:solidFill>
                  <a:srgbClr val="0F4A3F"/>
                </a:solidFill>
                <a:latin typeface="Work Sans SemiBold" pitchFamily="34" charset="0"/>
                <a:ea typeface="Work Sans SemiBold" pitchFamily="34" charset="-122"/>
                <a:cs typeface="Work Sans SemiBold" pitchFamily="34" charset="0"/>
              </a:rPr>
              <a:t>01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11182" y="2177653"/>
            <a:ext cx="2463738" cy="19050"/>
          </a:xfrm>
          <a:prstGeom prst="rect">
            <a:avLst/>
          </a:prstGeom>
          <a:solidFill>
            <a:srgbClr val="0F4A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11182" y="3716834"/>
            <a:ext cx="246373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F4A3F"/>
                </a:solidFill>
                <a:latin typeface="Work Sans Medium" pitchFamily="34" charset="0"/>
                <a:ea typeface="Work Sans Medium" pitchFamily="34" charset="-122"/>
                <a:cs typeface="Work Sans Medium" pitchFamily="34" charset="0"/>
              </a:rPr>
              <a:t>Payment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11182" y="4181971"/>
            <a:ext cx="2463738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50" dirty="0">
                <a:solidFill>
                  <a:srgbClr val="1B201E"/>
                </a:solidFill>
                <a:latin typeface="Work Sans" pitchFamily="34" charset="0"/>
                <a:ea typeface="Work Sans" pitchFamily="34" charset="-122"/>
                <a:cs typeface="Work Sans" pitchFamily="34" charset="0"/>
              </a:rPr>
              <a:t>Credit Card processed the most transactions: </a:t>
            </a:r>
            <a:r>
              <a:rPr lang="en-US" sz="1550" b="1" dirty="0">
                <a:solidFill>
                  <a:srgbClr val="1B201E"/>
                </a:solidFill>
                <a:latin typeface="Work Sans Bold" pitchFamily="34" charset="0"/>
                <a:ea typeface="Work Sans Bold" pitchFamily="34" charset="-122"/>
                <a:cs typeface="Work Sans Bold" pitchFamily="34" charset="0"/>
              </a:rPr>
              <a:t>4</a:t>
            </a:r>
            <a:r>
              <a:rPr lang="en-US" sz="1550" dirty="0">
                <a:solidFill>
                  <a:srgbClr val="1B201E"/>
                </a:solidFill>
                <a:latin typeface="Work Sans" pitchFamily="34" charset="0"/>
                <a:ea typeface="Work Sans" pitchFamily="34" charset="-122"/>
                <a:cs typeface="Work Sans" pitchFamily="34" charset="0"/>
              </a:rPr>
              <a:t>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3479713" y="1902023"/>
            <a:ext cx="851176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50" dirty="0">
                <a:solidFill>
                  <a:srgbClr val="0F4A3F"/>
                </a:solidFill>
                <a:latin typeface="Work Sans SemiBold" pitchFamily="34" charset="0"/>
                <a:ea typeface="Work Sans SemiBold" pitchFamily="34" charset="-122"/>
                <a:cs typeface="Work Sans SemiBold" pitchFamily="34" charset="0"/>
              </a:rPr>
              <a:t>02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3479713" y="2177653"/>
            <a:ext cx="2463738" cy="19050"/>
          </a:xfrm>
          <a:prstGeom prst="rect">
            <a:avLst/>
          </a:prstGeom>
          <a:solidFill>
            <a:srgbClr val="0F4A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479713" y="3574157"/>
            <a:ext cx="246373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F4A3F"/>
                </a:solidFill>
                <a:latin typeface="Work Sans Medium" pitchFamily="34" charset="0"/>
                <a:ea typeface="Work Sans Medium" pitchFamily="34" charset="-122"/>
                <a:cs typeface="Work Sans Medium" pitchFamily="34" charset="0"/>
              </a:rPr>
              <a:t>Specialization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79713" y="4039295"/>
            <a:ext cx="2463738" cy="856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50" dirty="0">
                <a:solidFill>
                  <a:srgbClr val="1B201E"/>
                </a:solidFill>
                <a:latin typeface="Work Sans" pitchFamily="34" charset="0"/>
                <a:ea typeface="Work Sans" pitchFamily="34" charset="-122"/>
                <a:cs typeface="Work Sans" pitchFamily="34" charset="0"/>
              </a:rPr>
              <a:t>Oncology generated the highest specialization revenue: </a:t>
            </a:r>
            <a:r>
              <a:rPr lang="en-US" sz="1550" b="1" dirty="0">
                <a:solidFill>
                  <a:srgbClr val="1B201E"/>
                </a:solidFill>
                <a:latin typeface="Work Sans Bold" pitchFamily="34" charset="0"/>
                <a:ea typeface="Work Sans Bold" pitchFamily="34" charset="-122"/>
                <a:cs typeface="Work Sans Bold" pitchFamily="34" charset="0"/>
              </a:rPr>
              <a:t>$1,000</a:t>
            </a:r>
            <a:r>
              <a:rPr lang="en-US" sz="1550" dirty="0">
                <a:solidFill>
                  <a:srgbClr val="1B201E"/>
                </a:solidFill>
                <a:latin typeface="Work Sans" pitchFamily="34" charset="0"/>
                <a:ea typeface="Work Sans" pitchFamily="34" charset="-122"/>
                <a:cs typeface="Work Sans" pitchFamily="34" charset="0"/>
              </a:rPr>
              <a:t>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248244" y="1902023"/>
            <a:ext cx="848398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50" dirty="0">
                <a:solidFill>
                  <a:srgbClr val="0F4A3F"/>
                </a:solidFill>
                <a:latin typeface="Work Sans SemiBold" pitchFamily="34" charset="0"/>
                <a:ea typeface="Work Sans SemiBold" pitchFamily="34" charset="-122"/>
                <a:cs typeface="Work Sans SemiBold" pitchFamily="34" charset="0"/>
              </a:rPr>
              <a:t>03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248244" y="2177653"/>
            <a:ext cx="2463738" cy="19050"/>
          </a:xfrm>
          <a:prstGeom prst="rect">
            <a:avLst/>
          </a:prstGeom>
          <a:solidFill>
            <a:srgbClr val="0F4A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248244" y="3574157"/>
            <a:ext cx="246373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F4A3F"/>
                </a:solidFill>
                <a:latin typeface="Work Sans Medium" pitchFamily="34" charset="0"/>
                <a:ea typeface="Work Sans Medium" pitchFamily="34" charset="-122"/>
                <a:cs typeface="Work Sans Medium" pitchFamily="34" charset="0"/>
              </a:rPr>
              <a:t>Patient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48244" y="4039295"/>
            <a:ext cx="2463738" cy="856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50" dirty="0">
                <a:solidFill>
                  <a:srgbClr val="1B201E"/>
                </a:solidFill>
                <a:latin typeface="Work Sans" pitchFamily="34" charset="0"/>
                <a:ea typeface="Work Sans" pitchFamily="34" charset="-122"/>
                <a:cs typeface="Work Sans" pitchFamily="34" charset="0"/>
              </a:rPr>
              <a:t>Patient 10 had the highest total billed amount: </a:t>
            </a:r>
            <a:r>
              <a:rPr lang="en-US" sz="1550" b="1" dirty="0">
                <a:solidFill>
                  <a:srgbClr val="1B201E"/>
                </a:solidFill>
                <a:latin typeface="Work Sans Bold" pitchFamily="34" charset="0"/>
                <a:ea typeface="Work Sans Bold" pitchFamily="34" charset="-122"/>
                <a:cs typeface="Work Sans Bold" pitchFamily="34" charset="0"/>
              </a:rPr>
              <a:t>$1,000</a:t>
            </a:r>
            <a:r>
              <a:rPr lang="en-US" sz="1550" dirty="0">
                <a:solidFill>
                  <a:srgbClr val="1B201E"/>
                </a:solidFill>
                <a:latin typeface="Work Sans" pitchFamily="34" charset="0"/>
                <a:ea typeface="Work Sans" pitchFamily="34" charset="-122"/>
                <a:cs typeface="Work Sans" pitchFamily="34" charset="0"/>
              </a:rPr>
              <a:t>.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9016774" y="1902023"/>
            <a:ext cx="859411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50" dirty="0">
                <a:solidFill>
                  <a:srgbClr val="0F4A3F"/>
                </a:solidFill>
                <a:latin typeface="Work Sans SemiBold" pitchFamily="34" charset="0"/>
                <a:ea typeface="Work Sans SemiBold" pitchFamily="34" charset="-122"/>
                <a:cs typeface="Work Sans SemiBold" pitchFamily="34" charset="0"/>
              </a:rPr>
              <a:t>04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9016774" y="2177653"/>
            <a:ext cx="2463738" cy="19050"/>
          </a:xfrm>
          <a:prstGeom prst="rect">
            <a:avLst/>
          </a:prstGeom>
          <a:solidFill>
            <a:srgbClr val="0F4A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016774" y="3574157"/>
            <a:ext cx="246373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F4A3F"/>
                </a:solidFill>
                <a:latin typeface="Work Sans Medium" pitchFamily="34" charset="0"/>
                <a:ea typeface="Work Sans Medium" pitchFamily="34" charset="-122"/>
                <a:cs typeface="Work Sans Medium" pitchFamily="34" charset="0"/>
              </a:rPr>
              <a:t>Prescriptions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016774" y="4039295"/>
            <a:ext cx="2463738" cy="856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50" dirty="0">
                <a:solidFill>
                  <a:srgbClr val="1B201E"/>
                </a:solidFill>
                <a:latin typeface="Work Sans" pitchFamily="34" charset="0"/>
                <a:ea typeface="Work Sans" pitchFamily="34" charset="-122"/>
                <a:cs typeface="Work Sans" pitchFamily="34" charset="0"/>
              </a:rPr>
              <a:t>Three appointments resulted in more than one medicine.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738649"/>
            <a:ext cx="10769331" cy="530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800" kern="100" spc="-19" dirty="0">
                <a:solidFill>
                  <a:srgbClr val="0F4A3F"/>
                </a:solidFill>
                <a:latin typeface="Libre Caslon Display" pitchFamily="34" charset="0"/>
                <a:ea typeface="Libre Caslon Display" pitchFamily="34" charset="-122"/>
                <a:cs typeface="Libre Caslon Display" pitchFamily="34" charset="0"/>
              </a:rPr>
              <a:t>Indexes and views make the database easier to use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380990" y="-2336800"/>
            <a:ext cx="9525" cy="3347045"/>
          </a:xfrm>
          <a:prstGeom prst="rect">
            <a:avLst/>
          </a:prstGeom>
          <a:solidFill>
            <a:srgbClr val="0F4A3F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35351" y="964605"/>
            <a:ext cx="101597" cy="101600"/>
          </a:xfrm>
          <a:prstGeom prst="ellipse">
            <a:avLst/>
          </a:prstGeom>
          <a:solidFill>
            <a:srgbClr val="F2B1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11182" y="1438870"/>
            <a:ext cx="11378915" cy="285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50" dirty="0">
                <a:solidFill>
                  <a:srgbClr val="1B201E"/>
                </a:solidFill>
                <a:latin typeface="Work Sans" pitchFamily="34" charset="0"/>
                <a:ea typeface="Work Sans" pitchFamily="34" charset="-122"/>
                <a:cs typeface="Work Sans" pitchFamily="34" charset="0"/>
              </a:rPr>
              <a:t>Performance and reuse belong in the design, not only in the queries.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11182" y="2846983"/>
            <a:ext cx="5232269" cy="1484809"/>
          </a:xfrm>
          <a:prstGeom prst="roundRect">
            <a:avLst>
              <a:gd name="adj" fmla="val 3079"/>
            </a:avLst>
          </a:prstGeom>
          <a:solidFill>
            <a:srgbClr val="E6E1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39776" y="3075742"/>
            <a:ext cx="5003675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84" dirty="0">
                <a:solidFill>
                  <a:srgbClr val="000000"/>
                </a:solidFill>
                <a:latin typeface="Work Sans Medium" pitchFamily="34" charset="0"/>
                <a:ea typeface="Work Sans Medium" pitchFamily="34" charset="-122"/>
                <a:cs typeface="Work Sans Medium" pitchFamily="34" charset="0"/>
              </a:rPr>
              <a:t>INDEX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39776" y="3352701"/>
            <a:ext cx="477508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Work Sans Medium" pitchFamily="34" charset="0"/>
                <a:ea typeface="Work Sans Medium" pitchFamily="34" charset="-122"/>
                <a:cs typeface="Work Sans Medium" pitchFamily="34" charset="0"/>
              </a:rPr>
              <a:t>Appointments.Patient_ID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39776" y="3817838"/>
            <a:ext cx="5003675" cy="285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0"/>
              </a:rPr>
              <a:t>Speeds up patient-based appointment searches.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248244" y="2846983"/>
            <a:ext cx="5232269" cy="1484809"/>
          </a:xfrm>
          <a:prstGeom prst="roundRect">
            <a:avLst>
              <a:gd name="adj" fmla="val 3079"/>
            </a:avLst>
          </a:prstGeom>
          <a:solidFill>
            <a:srgbClr val="DCE9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76838" y="3075742"/>
            <a:ext cx="5003675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84" dirty="0">
                <a:solidFill>
                  <a:srgbClr val="000000"/>
                </a:solidFill>
                <a:latin typeface="Work Sans Medium" pitchFamily="34" charset="0"/>
                <a:ea typeface="Work Sans Medium" pitchFamily="34" charset="-122"/>
                <a:cs typeface="Work Sans Medium" pitchFamily="34" charset="0"/>
              </a:rPr>
              <a:t>UNIQUE INDEX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76838" y="3352701"/>
            <a:ext cx="477508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Work Sans Medium" pitchFamily="34" charset="0"/>
                <a:ea typeface="Work Sans Medium" pitchFamily="34" charset="-122"/>
                <a:cs typeface="Work Sans Medium" pitchFamily="34" charset="0"/>
              </a:rPr>
              <a:t>Patients.Email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76838" y="3817838"/>
            <a:ext cx="5003675" cy="285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0"/>
              </a:rPr>
              <a:t>Protects email uniqueness.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11182" y="4636591"/>
            <a:ext cx="5232269" cy="1510209"/>
          </a:xfrm>
          <a:prstGeom prst="roundRect">
            <a:avLst>
              <a:gd name="adj" fmla="val 3027"/>
            </a:avLst>
          </a:prstGeom>
          <a:solidFill>
            <a:srgbClr val="FBFAF6"/>
          </a:solidFill>
          <a:ln w="12700">
            <a:solidFill>
              <a:srgbClr val="B7C3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52476" y="4878050"/>
            <a:ext cx="4990975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84" dirty="0">
                <a:solidFill>
                  <a:srgbClr val="1B201E"/>
                </a:solidFill>
                <a:latin typeface="Work Sans Medium" pitchFamily="34" charset="0"/>
                <a:ea typeface="Work Sans Medium" pitchFamily="34" charset="-122"/>
                <a:cs typeface="Work Sans Medium" pitchFamily="34" charset="0"/>
              </a:rPr>
              <a:t>VIEW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52476" y="5155009"/>
            <a:ext cx="474968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1B201E"/>
                </a:solidFill>
                <a:latin typeface="Work Sans Medium" pitchFamily="34" charset="0"/>
                <a:ea typeface="Work Sans Medium" pitchFamily="34" charset="-122"/>
                <a:cs typeface="Work Sans Medium" pitchFamily="34" charset="0"/>
              </a:rPr>
              <a:t>HighValueBills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52476" y="5620147"/>
            <a:ext cx="4990975" cy="285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50" dirty="0">
                <a:solidFill>
                  <a:srgbClr val="1B201E"/>
                </a:solidFill>
                <a:latin typeface="Work Sans" pitchFamily="34" charset="0"/>
                <a:ea typeface="Work Sans" pitchFamily="34" charset="-122"/>
                <a:cs typeface="Work Sans" pitchFamily="34" charset="0"/>
              </a:rPr>
              <a:t>Exposes bills above $700 as a reusable view.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248244" y="4636591"/>
            <a:ext cx="5232269" cy="1510209"/>
          </a:xfrm>
          <a:prstGeom prst="roundRect">
            <a:avLst>
              <a:gd name="adj" fmla="val 3027"/>
            </a:avLst>
          </a:prstGeom>
          <a:solidFill>
            <a:srgbClr val="FBFAF6"/>
          </a:solidFill>
          <a:ln w="12700">
            <a:solidFill>
              <a:srgbClr val="B7C3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489538" y="4878050"/>
            <a:ext cx="4990975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84" dirty="0">
                <a:solidFill>
                  <a:srgbClr val="1B201E"/>
                </a:solidFill>
                <a:latin typeface="Work Sans Medium" pitchFamily="34" charset="0"/>
                <a:ea typeface="Work Sans Medium" pitchFamily="34" charset="-122"/>
                <a:cs typeface="Work Sans Medium" pitchFamily="34" charset="0"/>
              </a:rPr>
              <a:t>VIEW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89538" y="5155009"/>
            <a:ext cx="474968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1B201E"/>
                </a:solidFill>
                <a:latin typeface="Work Sans Medium" pitchFamily="34" charset="0"/>
                <a:ea typeface="Work Sans Medium" pitchFamily="34" charset="-122"/>
                <a:cs typeface="Work Sans Medium" pitchFamily="34" charset="0"/>
              </a:rPr>
              <a:t>RevenueSummary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89538" y="5620147"/>
            <a:ext cx="4990975" cy="285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50" dirty="0">
                <a:solidFill>
                  <a:srgbClr val="1B201E"/>
                </a:solidFill>
                <a:latin typeface="Work Sans" pitchFamily="34" charset="0"/>
                <a:ea typeface="Work Sans" pitchFamily="34" charset="-122"/>
                <a:cs typeface="Work Sans" pitchFamily="34" charset="0"/>
              </a:rPr>
              <a:t>Packages payment-method totals for reporting.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738649"/>
            <a:ext cx="5892653" cy="1061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800" kern="100" spc="-19" dirty="0">
                <a:solidFill>
                  <a:srgbClr val="0F4A3F"/>
                </a:solidFill>
                <a:latin typeface="Libre Caslon Display" pitchFamily="34" charset="0"/>
                <a:ea typeface="Libre Caslon Display" pitchFamily="34" charset="-122"/>
                <a:cs typeface="Libre Caslon Display" pitchFamily="34" charset="0"/>
              </a:rPr>
              <a:t>MediTrack demonstrates a practical relational design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380990" y="-2336800"/>
            <a:ext cx="9525" cy="3347045"/>
          </a:xfrm>
          <a:prstGeom prst="rect">
            <a:avLst/>
          </a:prstGeom>
          <a:solidFill>
            <a:srgbClr val="0F4A3F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35351" y="964605"/>
            <a:ext cx="101597" cy="101600"/>
          </a:xfrm>
          <a:prstGeom prst="ellipse">
            <a:avLst/>
          </a:prstGeom>
          <a:solidFill>
            <a:srgbClr val="F2B1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11182" y="1969691"/>
            <a:ext cx="5892653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50" dirty="0">
                <a:solidFill>
                  <a:srgbClr val="1B201E"/>
                </a:solidFill>
                <a:latin typeface="Work Sans" pitchFamily="34" charset="0"/>
                <a:ea typeface="Work Sans" pitchFamily="34" charset="-122"/>
                <a:cs typeface="Work Sans" pitchFamily="34" charset="0"/>
              </a:rPr>
              <a:t>The system stays understandable as its questions become more useful.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11182" y="3419277"/>
            <a:ext cx="5892653" cy="285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50" b="1" dirty="0">
                <a:solidFill>
                  <a:srgbClr val="1B201E"/>
                </a:solidFill>
                <a:latin typeface="Work Sans Bold" pitchFamily="34" charset="0"/>
                <a:ea typeface="Work Sans Bold" pitchFamily="34" charset="-122"/>
                <a:cs typeface="Work Sans Bold" pitchFamily="34" charset="0"/>
              </a:rPr>
              <a:t>Separate tables</a:t>
            </a:r>
            <a:r>
              <a:rPr lang="en-US" sz="1550" dirty="0">
                <a:solidFill>
                  <a:srgbClr val="1B201E"/>
                </a:solidFill>
                <a:latin typeface="Work Sans" pitchFamily="34" charset="0"/>
                <a:ea typeface="Work Sans" pitchFamily="34" charset="-122"/>
                <a:cs typeface="Work Sans" pitchFamily="34" charset="0"/>
              </a:rPr>
              <a:t> keep operational data understandable.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11182" y="4060230"/>
            <a:ext cx="5892653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50" b="1" dirty="0">
                <a:solidFill>
                  <a:srgbClr val="1B201E"/>
                </a:solidFill>
                <a:latin typeface="Work Sans Bold" pitchFamily="34" charset="0"/>
                <a:ea typeface="Work Sans Bold" pitchFamily="34" charset="-122"/>
                <a:cs typeface="Work Sans Bold" pitchFamily="34" charset="0"/>
              </a:rPr>
              <a:t>Relationships</a:t>
            </a:r>
            <a:r>
              <a:rPr lang="en-US" sz="1550" dirty="0">
                <a:solidFill>
                  <a:srgbClr val="1B201E"/>
                </a:solidFill>
                <a:latin typeface="Work Sans" pitchFamily="34" charset="0"/>
                <a:ea typeface="Work Sans" pitchFamily="34" charset="-122"/>
                <a:cs typeface="Work Sans" pitchFamily="34" charset="0"/>
              </a:rPr>
              <a:t> support scheduling, prescriptions, and billing in one workflow.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11182" y="4986536"/>
            <a:ext cx="5892653" cy="285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50" b="1" dirty="0">
                <a:solidFill>
                  <a:srgbClr val="1B201E"/>
                </a:solidFill>
                <a:latin typeface="Work Sans Bold" pitchFamily="34" charset="0"/>
                <a:ea typeface="Work Sans Bold" pitchFamily="34" charset="-122"/>
                <a:cs typeface="Work Sans Bold" pitchFamily="34" charset="0"/>
              </a:rPr>
              <a:t>SQL queries</a:t>
            </a:r>
            <a:r>
              <a:rPr lang="en-US" sz="1550" dirty="0">
                <a:solidFill>
                  <a:srgbClr val="1B201E"/>
                </a:solidFill>
                <a:latin typeface="Work Sans" pitchFamily="34" charset="0"/>
                <a:ea typeface="Work Sans" pitchFamily="34" charset="-122"/>
                <a:cs typeface="Work Sans" pitchFamily="34" charset="0"/>
              </a:rPr>
              <a:t> turn raw records into management insight.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11182" y="5628442"/>
            <a:ext cx="5892653" cy="519311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kern="100" spc="12" dirty="0">
                <a:solidFill>
                  <a:srgbClr val="4E5753"/>
                </a:solidFill>
                <a:latin typeface="Work Sans" pitchFamily="34" charset="0"/>
                <a:ea typeface="Work Sans" pitchFamily="34" charset="-122"/>
                <a:cs typeface="Work Sans" pitchFamily="34" charset="0"/>
              </a:rPr>
              <a:t>Next step: enforce the one-bill-per-appointment rule with a UNIQUE constraint and extend the dataset for broader testing.</a:t>
            </a:r>
            <a:endParaRPr lang="en-US" sz="12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611" y="228600"/>
            <a:ext cx="4419489" cy="603319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543611" y="6439753"/>
            <a:ext cx="4648084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230" dirty="0">
                <a:solidFill>
                  <a:srgbClr val="0F4A3F"/>
                </a:solidFill>
                <a:latin typeface="Work Sans Medium" pitchFamily="34" charset="0"/>
                <a:ea typeface="Work Sans Medium" pitchFamily="34" charset="-122"/>
                <a:cs typeface="Work Sans Medium" pitchFamily="34" charset="0"/>
              </a:rPr>
              <a:t>MEDITRACK · RELATIONAL DESIGN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11182" y="3876080"/>
            <a:ext cx="5892653" cy="12700"/>
          </a:xfrm>
          <a:prstGeom prst="rect">
            <a:avLst/>
          </a:prstGeom>
          <a:solidFill>
            <a:srgbClr val="B7C3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711182" y="4802386"/>
            <a:ext cx="5892653" cy="12700"/>
          </a:xfrm>
          <a:prstGeom prst="rect">
            <a:avLst/>
          </a:prstGeom>
          <a:solidFill>
            <a:srgbClr val="B7C3C0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20EE3B-F348-481A-4EA3-6D8C16B52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520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582</Words>
  <Application>Microsoft Office PowerPoint</Application>
  <PresentationFormat>Widescreen</PresentationFormat>
  <Paragraphs>122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Work Sans Bold</vt:lpstr>
      <vt:lpstr>Consolas</vt:lpstr>
      <vt:lpstr>Libre Caslon Display</vt:lpstr>
      <vt:lpstr>Work Sans</vt:lpstr>
      <vt:lpstr>Work Sans SemiBold</vt:lpstr>
      <vt:lpstr>Arial</vt:lpstr>
      <vt:lpstr>Work Sans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Anudip</cp:lastModifiedBy>
  <cp:revision>2</cp:revision>
  <dcterms:created xsi:type="dcterms:W3CDTF">2026-10-29T08:16:02Z</dcterms:created>
  <dcterms:modified xsi:type="dcterms:W3CDTF">2026-10-29T08:18:11Z</dcterms:modified>
</cp:coreProperties>
</file>